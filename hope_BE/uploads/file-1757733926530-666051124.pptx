
<file path=[Content_Types].xml><?xml version="1.0" encoding="utf-8"?>
<Types xmlns="http://schemas.openxmlformats.org/package/2006/content-types">
  <Default Extension="bin" ContentType="image/unknown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  <p:sldMasterId id="2147483662" r:id="rId3"/>
  </p:sldMasterIdLst>
  <p:notesMasterIdLst>
    <p:notesMasterId r:id="rId25"/>
  </p:notesMasterIdLst>
  <p:sldIdLst>
    <p:sldId id="1000" r:id="rId4"/>
    <p:sldId id="996" r:id="rId5"/>
    <p:sldId id="998" r:id="rId6"/>
    <p:sldId id="994" r:id="rId7"/>
    <p:sldId id="992" r:id="rId8"/>
    <p:sldId id="990" r:id="rId9"/>
    <p:sldId id="997" r:id="rId10"/>
    <p:sldId id="972" r:id="rId11"/>
    <p:sldId id="973" r:id="rId12"/>
    <p:sldId id="999" r:id="rId13"/>
    <p:sldId id="982" r:id="rId14"/>
    <p:sldId id="298" r:id="rId15"/>
    <p:sldId id="955" r:id="rId16"/>
    <p:sldId id="937" r:id="rId17"/>
    <p:sldId id="977" r:id="rId18"/>
    <p:sldId id="979" r:id="rId19"/>
    <p:sldId id="980" r:id="rId20"/>
    <p:sldId id="904" r:id="rId21"/>
    <p:sldId id="981" r:id="rId22"/>
    <p:sldId id="978" r:id="rId23"/>
    <p:sldId id="26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CAD2"/>
    <a:srgbClr val="EB9355"/>
    <a:srgbClr val="9672C6"/>
    <a:srgbClr val="EDBD45"/>
    <a:srgbClr val="FFFFFF"/>
    <a:srgbClr val="25B5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68039" autoAdjust="0"/>
  </p:normalViewPr>
  <p:slideViewPr>
    <p:cSldViewPr snapToGrid="0">
      <p:cViewPr varScale="1">
        <p:scale>
          <a:sx n="53" d="100"/>
          <a:sy n="53" d="100"/>
        </p:scale>
        <p:origin x="160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1D868-6897-48F9-9C34-0F162AFC0B4E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536453-3A77-4C15-9AB0-FC235EBEA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4700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3595"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649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3595"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9530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3595">
              <a:defRPr/>
            </a:pPr>
            <a:r>
              <a:rPr lang="ko-KR" altLang="en-US" dirty="0"/>
              <a:t>연도별로 전 세계 최고의 기업들을 보여주는 그래프입니다</a:t>
            </a:r>
            <a:r>
              <a:rPr lang="en-US" altLang="ko-KR" dirty="0"/>
              <a:t>.</a:t>
            </a:r>
          </a:p>
          <a:p>
            <a:pPr defTabSz="963595">
              <a:defRPr/>
            </a:pPr>
            <a:r>
              <a:rPr lang="en-US" altLang="ko-KR" dirty="0"/>
              <a:t>2010</a:t>
            </a:r>
            <a:r>
              <a:rPr lang="ko-KR" altLang="en-US" dirty="0"/>
              <a:t>년을 넘어가면서 큰 변화가 보입니다</a:t>
            </a:r>
            <a:r>
              <a:rPr lang="en-US" altLang="ko-KR" dirty="0"/>
              <a:t>. </a:t>
            </a:r>
          </a:p>
          <a:p>
            <a:pPr defTabSz="963595">
              <a:defRPr/>
            </a:pPr>
            <a:r>
              <a:rPr lang="ko-KR" altLang="en-US" dirty="0"/>
              <a:t>세계 최고의 기업들이 급격히 쇠퇴하고</a:t>
            </a:r>
            <a:r>
              <a:rPr lang="en-US" altLang="ko-KR" dirty="0"/>
              <a:t>, </a:t>
            </a:r>
            <a:r>
              <a:rPr lang="ko-KR" altLang="en-US" dirty="0"/>
              <a:t>애플</a:t>
            </a:r>
            <a:r>
              <a:rPr lang="en-US" altLang="ko-KR" dirty="0"/>
              <a:t>, </a:t>
            </a:r>
            <a:r>
              <a:rPr lang="ko-KR" altLang="en-US" dirty="0"/>
              <a:t>구글과 같이 목록에 </a:t>
            </a:r>
            <a:r>
              <a:rPr lang="ko-KR" altLang="en-US" dirty="0" err="1"/>
              <a:t>있지도</a:t>
            </a:r>
            <a:r>
              <a:rPr lang="ko-KR" altLang="en-US" dirty="0"/>
              <a:t> 않던 기업들이 최고의 기업으로 치고 올라왔습니다</a:t>
            </a:r>
            <a:r>
              <a:rPr lang="en-US" altLang="ko-KR" dirty="0"/>
              <a:t>.</a:t>
            </a:r>
          </a:p>
          <a:p>
            <a:pPr defTabSz="963595">
              <a:defRPr/>
            </a:pPr>
            <a:r>
              <a:rPr lang="ko-KR" altLang="en-US" dirty="0"/>
              <a:t>새롭게 급부상한 기업들은 어떤 공통점이 있을까요</a:t>
            </a:r>
            <a:r>
              <a:rPr lang="en-US" altLang="ko-KR" dirty="0"/>
              <a:t>? </a:t>
            </a:r>
            <a:r>
              <a:rPr lang="ko-KR" altLang="en-US" dirty="0"/>
              <a:t>바로 </a:t>
            </a:r>
            <a:r>
              <a:rPr lang="en-US" altLang="ko-KR" dirty="0"/>
              <a:t>SW</a:t>
            </a:r>
            <a:r>
              <a:rPr lang="ko-KR" altLang="en-US" dirty="0"/>
              <a:t>와 밀접히 관련되거나</a:t>
            </a:r>
            <a:r>
              <a:rPr lang="en-US" altLang="ko-KR" dirty="0"/>
              <a:t>, SW</a:t>
            </a:r>
            <a:r>
              <a:rPr lang="ko-KR" altLang="en-US" dirty="0"/>
              <a:t>와 잘 융합한 기업들이라는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743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3595">
              <a:defRPr/>
            </a:pPr>
            <a:r>
              <a:rPr lang="ko-KR" altLang="en-US" dirty="0"/>
              <a:t>연도별로 전 세계 최고의 기업들을 보여주는 그래프입니다</a:t>
            </a:r>
            <a:r>
              <a:rPr lang="en-US" altLang="ko-KR" dirty="0"/>
              <a:t>.</a:t>
            </a:r>
          </a:p>
          <a:p>
            <a:pPr defTabSz="963595">
              <a:defRPr/>
            </a:pPr>
            <a:r>
              <a:rPr lang="en-US" altLang="ko-KR" dirty="0"/>
              <a:t>2010</a:t>
            </a:r>
            <a:r>
              <a:rPr lang="ko-KR" altLang="en-US" dirty="0"/>
              <a:t>년을 넘어가면서 큰 변화가 보입니다</a:t>
            </a:r>
            <a:r>
              <a:rPr lang="en-US" altLang="ko-KR" dirty="0"/>
              <a:t>. </a:t>
            </a:r>
          </a:p>
          <a:p>
            <a:pPr defTabSz="963595">
              <a:defRPr/>
            </a:pPr>
            <a:r>
              <a:rPr lang="ko-KR" altLang="en-US" dirty="0"/>
              <a:t>세계 최고의 기업들이 급격히 쇠퇴하고</a:t>
            </a:r>
            <a:r>
              <a:rPr lang="en-US" altLang="ko-KR" dirty="0"/>
              <a:t>, </a:t>
            </a:r>
            <a:r>
              <a:rPr lang="ko-KR" altLang="en-US" dirty="0"/>
              <a:t>애플</a:t>
            </a:r>
            <a:r>
              <a:rPr lang="en-US" altLang="ko-KR" dirty="0"/>
              <a:t>, </a:t>
            </a:r>
            <a:r>
              <a:rPr lang="ko-KR" altLang="en-US" dirty="0"/>
              <a:t>구글과 같이 목록에 </a:t>
            </a:r>
            <a:r>
              <a:rPr lang="ko-KR" altLang="en-US" dirty="0" err="1"/>
              <a:t>있지도</a:t>
            </a:r>
            <a:r>
              <a:rPr lang="ko-KR" altLang="en-US" dirty="0"/>
              <a:t> 않던 기업들이 최고의 기업으로 치고 올라왔습니다</a:t>
            </a:r>
            <a:r>
              <a:rPr lang="en-US" altLang="ko-KR" dirty="0"/>
              <a:t>.</a:t>
            </a:r>
          </a:p>
          <a:p>
            <a:pPr defTabSz="963595">
              <a:defRPr/>
            </a:pPr>
            <a:r>
              <a:rPr lang="ko-KR" altLang="en-US" dirty="0"/>
              <a:t>새롭게 급부상한 기업들은 어떤 공통점이 있을까요</a:t>
            </a:r>
            <a:r>
              <a:rPr lang="en-US" altLang="ko-KR" dirty="0"/>
              <a:t>? </a:t>
            </a:r>
            <a:r>
              <a:rPr lang="ko-KR" altLang="en-US" dirty="0"/>
              <a:t>바로 </a:t>
            </a:r>
            <a:r>
              <a:rPr lang="en-US" altLang="ko-KR" dirty="0"/>
              <a:t>SW</a:t>
            </a:r>
            <a:r>
              <a:rPr lang="ko-KR" altLang="en-US" dirty="0"/>
              <a:t>와 밀접히 관련되거나</a:t>
            </a:r>
            <a:r>
              <a:rPr lang="en-US" altLang="ko-KR" dirty="0"/>
              <a:t>, SW</a:t>
            </a:r>
            <a:r>
              <a:rPr lang="ko-KR" altLang="en-US" dirty="0"/>
              <a:t>와 잘 융합한 기업들이라는 것입니다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7103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11946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3595"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938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63595"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0232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/>
              <a:t>모디</a:t>
            </a:r>
            <a:r>
              <a:rPr lang="ko-KR" altLang="en-US" dirty="0"/>
              <a:t> 모듈에는 세가지 종류가 있습니다</a:t>
            </a:r>
            <a:r>
              <a:rPr lang="en-US" altLang="ko-KR" dirty="0"/>
              <a:t>. </a:t>
            </a:r>
            <a:r>
              <a:rPr lang="ko-KR" altLang="en-US" dirty="0"/>
              <a:t>보라색은</a:t>
            </a:r>
            <a:r>
              <a:rPr lang="en-US" altLang="ko-KR" dirty="0"/>
              <a:t> </a:t>
            </a:r>
            <a:r>
              <a:rPr lang="ko-KR" altLang="en-US" dirty="0"/>
              <a:t>입력 모듈</a:t>
            </a:r>
            <a:r>
              <a:rPr lang="en-US" altLang="ko-KR" dirty="0"/>
              <a:t>,</a:t>
            </a:r>
            <a:r>
              <a:rPr lang="ko-KR" altLang="en-US" dirty="0"/>
              <a:t> 주황색은 </a:t>
            </a:r>
            <a:r>
              <a:rPr lang="ko-KR" altLang="en-US" dirty="0" err="1"/>
              <a:t>출력모듈</a:t>
            </a:r>
            <a:r>
              <a:rPr lang="en-US" altLang="ko-KR" dirty="0"/>
              <a:t>, </a:t>
            </a:r>
            <a:r>
              <a:rPr lang="ko-KR" altLang="en-US" dirty="0"/>
              <a:t>노란색은 </a:t>
            </a:r>
            <a:r>
              <a:rPr lang="ko-KR" altLang="en-US" dirty="0" err="1"/>
              <a:t>셋업모듈이었죠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입력 모듈에는 어떤 것들이 있나요</a:t>
            </a:r>
            <a:r>
              <a:rPr lang="en-US" altLang="ko-KR" dirty="0"/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출력 모듈에는 어떤 것들이 있나요</a:t>
            </a:r>
            <a:r>
              <a:rPr lang="en-US" altLang="ko-KR" dirty="0"/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셋업 모듈에는 어떤 것들이 있나요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006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2922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aseline="0" dirty="0"/>
              <a:t>오랫동안 시간을 주고 스스로 규칙을 찾아내도록 함</a:t>
            </a:r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659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487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653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baseline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93182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9478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08669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5DEFA-93CE-CB45-91CF-E7CD8C400F01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417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C373B-5719-4B45-B4EF-84C4CA4B0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C0CB36-512C-4CAE-A248-57FE23D653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023BA-4241-4924-9923-B78E973C4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978A66-2B8B-4F67-B48E-2584AC41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25708C-F114-4BDA-B2A0-10330233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611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F04A3-ACFF-4F17-938B-3D4265B3A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993C12-E762-4A5B-AFBC-B0565251A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56469D-4F8C-44B9-9038-14AECB04E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CFE7E9-BFD2-4213-BA0F-720C792C9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4E62CA-EC1C-4446-9D28-DB67F83C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96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DD6CE6-B8DE-4F2F-8721-4D7A33054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4A28D0-6299-45AF-86E6-2070E164D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00579B-AA79-48D8-AF66-E6934865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66C4C-11BC-49D4-8EE8-6DA518EC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B84149-46EC-49BC-BC61-3D0792733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658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64A2DF-BED3-490D-B332-C9AC5048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5504B3-68D8-4BB2-B25F-9E3534ECD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444CF37-21FC-4552-9FDE-DA94B0D857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CE77808-961A-417A-978C-9E38D253F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52F719-DC69-421C-82CB-F00BFC00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1D8E48-87CF-4B43-A10F-1627E86D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2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EEC5F-96B3-4A2E-94B2-BE508ED8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E2B158-814E-4CA8-A279-877D1E630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91135B-E5F8-44A8-963E-5100B1433B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3BF7BC-A4D8-402A-822E-7BAEB5BC8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F8E0F1D-A8BB-40DE-BB09-13E17CE3E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CAD9FB-26A5-49EC-A768-86E68C5FF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CB764EF-5D39-430A-9741-4CB09FBB5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29EFFAF-AE4E-41CD-AB34-2B1BEB93F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672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170535-2C62-4E2E-8DC9-E78849A0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C4B8DB-3943-42FB-B907-35239E6C1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A6B5340-EE46-4D37-99C7-FC54D15C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F5C2C3-4933-45D6-A67B-DE77B0174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1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32764A-8B35-4FD5-864F-7CED153D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2650C2-A46C-48FA-BBFB-5683121E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05E849-1B5E-4530-9719-5C74A66A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283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FDC12-6164-4D70-A63D-2E7E7F24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E049BA-FF9D-4EED-9E8B-0671DFD18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C50386-55F7-4539-B96D-34818F279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377A48-A734-4CA6-9F63-D3754F2EE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CFD8F3-72F8-4187-B14C-A5A6DAFB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FF26A9-7A6A-4934-BE82-C2AE6E24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80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A0EBD-F10D-4F6B-9069-F1F46E6AE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642EEA-3187-4E99-ACD5-D22DD650C5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947548-2B22-4DE2-B3BC-A1F2AAD21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A29B46-2711-4D5C-851A-82E120BBD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78CB4F-4931-4C7F-B6C1-8CBB44FC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5B6D10-A544-4CB4-953D-4CCA366C4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670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54012-7A1A-4824-BF90-D896CFC5F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C1BF49-D852-4E8D-AB4D-450873577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3F0148-4290-4340-B11F-E5E4CAAE0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7030E2-8551-41D0-B4D8-C59E57A73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2D5A95-9F4A-49CD-BB67-E99A7FD8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6508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586F09-1C20-463E-8689-317DEF934B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D09A33-92B1-4E66-B5D9-8D04118F4B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2A1593-9056-4A34-9F8F-47115FF9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52313B-E056-4B76-B2C8-6B421779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F372C-4074-4179-9ED2-3F8EE38FF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472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9C48354E-52D4-094D-8341-DB74F261772A}" type="datetimeFigureOut">
              <a:rPr kumimoji="1" lang="ko-KR" altLang="en-US" smtClean="0"/>
              <a:pPr/>
              <a:t>2025-08-17</a:t>
            </a:fld>
            <a:endParaRPr kumimoji="1"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F474620C-C767-544E-B1E9-95F21304642D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DC94EF-A373-41E3-ADDE-A9041DB10E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6330" y="178904"/>
            <a:ext cx="1527313" cy="3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198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889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그림 2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9C48354E-52D4-094D-8341-DB74F261772A}" type="datetimeFigureOut">
              <a:rPr kumimoji="1" lang="ko-KR" altLang="en-US" smtClean="0"/>
              <a:pPr/>
              <a:t>2025-08-17</a:t>
            </a:fld>
            <a:endParaRPr kumimoji="1" lang="ko-KR" altLang="en-US" dirty="0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F474620C-C767-544E-B1E9-95F21304642D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DC94EF-A373-41E3-ADDE-A9041DB10E1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96330" y="178904"/>
            <a:ext cx="1527313" cy="3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855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2582943" cy="6896784"/>
          </a:xfrm>
          <a:prstGeom prst="rect">
            <a:avLst/>
          </a:prstGeom>
          <a:solidFill>
            <a:srgbClr val="C2E6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부제목 2"/>
          <p:cNvSpPr txBox="1">
            <a:spLocks/>
          </p:cNvSpPr>
          <p:nvPr userDrawn="1"/>
        </p:nvSpPr>
        <p:spPr>
          <a:xfrm>
            <a:off x="268368" y="315886"/>
            <a:ext cx="2314575" cy="800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CONTENTS</a:t>
            </a:r>
          </a:p>
        </p:txBody>
      </p:sp>
      <p:cxnSp>
        <p:nvCxnSpPr>
          <p:cNvPr id="9" name="직선 연결선 5"/>
          <p:cNvCxnSpPr/>
          <p:nvPr userDrawn="1"/>
        </p:nvCxnSpPr>
        <p:spPr>
          <a:xfrm>
            <a:off x="379461" y="916944"/>
            <a:ext cx="912011" cy="0"/>
          </a:xfrm>
          <a:prstGeom prst="line">
            <a:avLst/>
          </a:prstGeom>
          <a:ln w="38100">
            <a:solidFill>
              <a:srgbClr val="5ACC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9959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73102"/>
          </a:xfrm>
          <a:prstGeom prst="rect">
            <a:avLst/>
          </a:prstGeom>
        </p:spPr>
      </p:pic>
      <p:cxnSp>
        <p:nvCxnSpPr>
          <p:cNvPr id="5" name="직선 연결선 16"/>
          <p:cNvCxnSpPr/>
          <p:nvPr userDrawn="1"/>
        </p:nvCxnSpPr>
        <p:spPr>
          <a:xfrm>
            <a:off x="667129" y="1009165"/>
            <a:ext cx="10857742" cy="23193"/>
          </a:xfrm>
          <a:prstGeom prst="line">
            <a:avLst/>
          </a:prstGeom>
          <a:ln w="38100">
            <a:solidFill>
              <a:srgbClr val="45D6D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884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73102"/>
          </a:xfrm>
          <a:prstGeom prst="rect">
            <a:avLst/>
          </a:prstGeom>
        </p:spPr>
      </p:pic>
      <p:cxnSp>
        <p:nvCxnSpPr>
          <p:cNvPr id="6" name="직선 연결선 16"/>
          <p:cNvCxnSpPr/>
          <p:nvPr userDrawn="1"/>
        </p:nvCxnSpPr>
        <p:spPr>
          <a:xfrm>
            <a:off x="667129" y="1009165"/>
            <a:ext cx="10857742" cy="23193"/>
          </a:xfrm>
          <a:prstGeom prst="line">
            <a:avLst/>
          </a:prstGeom>
          <a:ln w="38100">
            <a:solidFill>
              <a:srgbClr val="FFCC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7073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16"/>
          <p:cNvCxnSpPr/>
          <p:nvPr userDrawn="1"/>
        </p:nvCxnSpPr>
        <p:spPr>
          <a:xfrm>
            <a:off x="667129" y="1009165"/>
            <a:ext cx="10857742" cy="23193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7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0357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16"/>
          <p:cNvCxnSpPr/>
          <p:nvPr userDrawn="1"/>
        </p:nvCxnSpPr>
        <p:spPr>
          <a:xfrm>
            <a:off x="667129" y="1009165"/>
            <a:ext cx="10857742" cy="23193"/>
          </a:xfrm>
          <a:prstGeom prst="line">
            <a:avLst/>
          </a:prstGeom>
          <a:ln w="38100">
            <a:solidFill>
              <a:srgbClr val="66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7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2477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7111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532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9082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606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824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2343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8435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4991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566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D9C3313-80F5-4CA3-863B-7D757C06675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2343" y="6351104"/>
            <a:ext cx="1527313" cy="353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F00EB0-8773-4D1C-B649-D460D6DB86ED}"/>
              </a:ext>
            </a:extLst>
          </p:cNvPr>
          <p:cNvSpPr txBox="1"/>
          <p:nvPr userDrawn="1"/>
        </p:nvSpPr>
        <p:spPr>
          <a:xfrm>
            <a:off x="10774992" y="6519866"/>
            <a:ext cx="120396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200">
                <a:solidFill>
                  <a:schemeClr val="bg1"/>
                </a:solidFill>
              </a:rPr>
              <a:t>V1.0  2018.12.31.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8D03202-26AD-4C0B-AD3F-355C608810F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661" y="6015584"/>
            <a:ext cx="1203960" cy="42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880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DA091C6-0CA4-406D-ACAA-F3F928BD2E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2343" y="6351104"/>
            <a:ext cx="1527313" cy="3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8376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03D0757-72CF-4BD9-81B5-5336917DA6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2343" y="6351104"/>
            <a:ext cx="1527313" cy="3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967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BA22F97-E108-4195-AF99-02AEB0E4D8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2343" y="6351104"/>
            <a:ext cx="1527313" cy="35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8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E99EDC-9012-4292-8B48-6E1C41D3D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D03C09-A35D-402F-A5E1-F7B79E6386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3B0195-E206-44C0-9373-30F98A684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A6D62C-EF46-45FF-98A1-948B657E12E4}" type="datetimeFigureOut">
              <a:rPr lang="ko-KR" altLang="en-US" smtClean="0"/>
              <a:t>2025-08-17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AC05AB-2172-4F30-95C8-FA7863FBCC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A103EA-05EC-480B-B702-86A3AC8F74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85D29-E1B3-4939-A978-352BCA4411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61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2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8354E-52D4-094D-8341-DB74F261772A}" type="datetimeFigureOut">
              <a:rPr kumimoji="1" lang="ko-KR" altLang="en-US" smtClean="0"/>
              <a:t>2025-08-17</a:t>
            </a:fld>
            <a:endParaRPr kumimoji="1"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4620C-C767-544E-B1E9-95F21304642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7608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6.xml"/><Relationship Id="rId1" Type="http://schemas.openxmlformats.org/officeDocument/2006/relationships/video" Target="https://www.youtube.com/embed/KhptxxfMQ_Q?feature=oembed" TargetMode="External"/><Relationship Id="rId4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slideLayout" Target="../slideLayouts/slideLayout16.xml"/><Relationship Id="rId16" Type="http://schemas.openxmlformats.org/officeDocument/2006/relationships/image" Target="../media/image48.png"/><Relationship Id="rId1" Type="http://schemas.openxmlformats.org/officeDocument/2006/relationships/customXml" Target="../../customXml/item1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5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4.png"/><Relationship Id="rId5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6.png"/><Relationship Id="rId5" Type="http://schemas.openxmlformats.org/officeDocument/2006/relationships/image" Target="../media/image52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2"/>
          <p:cNvSpPr txBox="1">
            <a:spLocks/>
          </p:cNvSpPr>
          <p:nvPr/>
        </p:nvSpPr>
        <p:spPr>
          <a:xfrm>
            <a:off x="6985343" y="3847153"/>
            <a:ext cx="4985940" cy="22217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b="1" dirty="0">
                <a:solidFill>
                  <a:srgbClr val="333E48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IT </a:t>
            </a:r>
            <a:r>
              <a:rPr lang="ko-KR" altLang="en-US" b="1" dirty="0">
                <a:solidFill>
                  <a:srgbClr val="333E48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수업</a:t>
            </a:r>
            <a:endParaRPr lang="en-US" altLang="ko-KR" b="1" dirty="0">
              <a:solidFill>
                <a:srgbClr val="333E48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32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오리엔테이션</a:t>
            </a:r>
            <a:endParaRPr lang="en-US" altLang="ko-KR" sz="3200" b="1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</p:txBody>
      </p:sp>
      <p:cxnSp>
        <p:nvCxnSpPr>
          <p:cNvPr id="11" name="직선 연결선[R] 10"/>
          <p:cNvCxnSpPr/>
          <p:nvPr/>
        </p:nvCxnSpPr>
        <p:spPr>
          <a:xfrm>
            <a:off x="6798946" y="3942197"/>
            <a:ext cx="0" cy="390664"/>
          </a:xfrm>
          <a:prstGeom prst="line">
            <a:avLst/>
          </a:prstGeom>
          <a:ln w="101600">
            <a:solidFill>
              <a:srgbClr val="333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/>
          <p:cNvCxnSpPr>
            <a:cxnSpLocks/>
          </p:cNvCxnSpPr>
          <p:nvPr/>
        </p:nvCxnSpPr>
        <p:spPr>
          <a:xfrm>
            <a:off x="6798946" y="4500087"/>
            <a:ext cx="0" cy="505050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726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하드웨어란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?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80088AA-9588-46C6-8CCC-ABAEE18CF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72" y="2188378"/>
            <a:ext cx="2264611" cy="226461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1CE0E9A-B18D-471F-904B-BF2D21541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070" y="2925151"/>
            <a:ext cx="2803426" cy="280342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5A76C39-1482-4798-8A80-10ACE105C5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717" y="2713354"/>
            <a:ext cx="2503484" cy="25034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E1407951-5F13-452E-B5E0-B1D7C0942CB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26337">
            <a:off x="8441636" y="2717635"/>
            <a:ext cx="2136996" cy="2136996"/>
          </a:xfrm>
          <a:prstGeom prst="rect">
            <a:avLst/>
          </a:prstGeom>
        </p:spPr>
      </p:pic>
      <p:sp>
        <p:nvSpPr>
          <p:cNvPr id="8" name="부제목 2">
            <a:extLst>
              <a:ext uri="{FF2B5EF4-FFF2-40B4-BE49-F238E27FC236}">
                <a16:creationId xmlns:a16="http://schemas.microsoft.com/office/drawing/2014/main" id="{16451715-525F-4913-BF6F-4E7BE9931327}"/>
              </a:ext>
            </a:extLst>
          </p:cNvPr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4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차 산업혁명과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SW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013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소프트웨어란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?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sp>
        <p:nvSpPr>
          <p:cNvPr id="7" name="제목 3">
            <a:extLst>
              <a:ext uri="{FF2B5EF4-FFF2-40B4-BE49-F238E27FC236}">
                <a16:creationId xmlns:a16="http://schemas.microsoft.com/office/drawing/2014/main" id="{5C2B0BEB-C93F-4F75-84D8-B976614BDCFC}"/>
              </a:ext>
            </a:extLst>
          </p:cNvPr>
          <p:cNvSpPr txBox="1">
            <a:spLocks/>
          </p:cNvSpPr>
          <p:nvPr/>
        </p:nvSpPr>
        <p:spPr>
          <a:xfrm>
            <a:off x="7128004" y="1610269"/>
            <a:ext cx="3341063" cy="48013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시스템 소프트웨어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542516E8-A67E-409C-9D5C-4D8D04799307}"/>
              </a:ext>
            </a:extLst>
          </p:cNvPr>
          <p:cNvSpPr txBox="1">
            <a:spLocks/>
          </p:cNvSpPr>
          <p:nvPr/>
        </p:nvSpPr>
        <p:spPr>
          <a:xfrm>
            <a:off x="2082976" y="1610269"/>
            <a:ext cx="3792071" cy="480131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응용 소프트웨어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594CB4-D304-43EC-8E53-67561CB81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3250" y="2929665"/>
            <a:ext cx="4130570" cy="2318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0C9B98F-9E11-4A96-9ADA-C4C1DD38C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661" y="2388078"/>
            <a:ext cx="3801614" cy="346813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B5F9C28-F2D1-4C75-AD6F-5FF282E39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838" y="2963114"/>
            <a:ext cx="4789394" cy="2318066"/>
          </a:xfrm>
          <a:prstGeom prst="rect">
            <a:avLst/>
          </a:prstGeom>
        </p:spPr>
      </p:pic>
      <p:sp>
        <p:nvSpPr>
          <p:cNvPr id="9" name="부제목 2">
            <a:extLst>
              <a:ext uri="{FF2B5EF4-FFF2-40B4-BE49-F238E27FC236}">
                <a16:creationId xmlns:a16="http://schemas.microsoft.com/office/drawing/2014/main" id="{96C50A87-3333-466B-BA54-D5F77774803B}"/>
              </a:ext>
            </a:extLst>
          </p:cNvPr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4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차 산업혁명과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SW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008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소프트웨어와 산업의 변화</a:t>
            </a: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4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차 산업혁명과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SW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</p:txBody>
      </p:sp>
      <p:pic>
        <p:nvPicPr>
          <p:cNvPr id="11" name="Picture 2" descr="http://postfiles8.naver.net/20131009_167/kimkimjaejae_1381277257775VAVyq_PNG/1379353_10151739372878031_519284873_n.png?type=w3">
            <a:extLst>
              <a:ext uri="{FF2B5EF4-FFF2-40B4-BE49-F238E27FC236}">
                <a16:creationId xmlns:a16="http://schemas.microsoft.com/office/drawing/2014/main" id="{59E92754-C68A-4FE7-B52A-50BA848E0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7"/>
          <a:stretch/>
        </p:blipFill>
        <p:spPr bwMode="auto">
          <a:xfrm>
            <a:off x="2196400" y="1347085"/>
            <a:ext cx="7814493" cy="548520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559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소프트웨어와 산업의 변화</a:t>
            </a: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4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차 산업혁명과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SW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6CADFA2-F351-4785-A4D4-7B60355087A2}"/>
              </a:ext>
            </a:extLst>
          </p:cNvPr>
          <p:cNvGrpSpPr/>
          <p:nvPr/>
        </p:nvGrpSpPr>
        <p:grpSpPr>
          <a:xfrm>
            <a:off x="2291134" y="3928923"/>
            <a:ext cx="7397975" cy="2568130"/>
            <a:chOff x="0" y="2766343"/>
            <a:chExt cx="7397975" cy="1815020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78B0355-0307-488B-BFCA-BD7F9C963540}"/>
                </a:ext>
              </a:extLst>
            </p:cNvPr>
            <p:cNvSpPr/>
            <p:nvPr/>
          </p:nvSpPr>
          <p:spPr>
            <a:xfrm>
              <a:off x="0" y="2766343"/>
              <a:ext cx="7397975" cy="1815020"/>
            </a:xfrm>
            <a:prstGeom prst="rect">
              <a:avLst/>
            </a:prstGeom>
            <a:ln>
              <a:solidFill>
                <a:srgbClr val="25CAD2"/>
              </a:solidFill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1D3E8B1-2021-494D-BCB7-E864B18CEC12}"/>
                </a:ext>
              </a:extLst>
            </p:cNvPr>
            <p:cNvSpPr txBox="1"/>
            <p:nvPr/>
          </p:nvSpPr>
          <p:spPr>
            <a:xfrm>
              <a:off x="0" y="2766343"/>
              <a:ext cx="7397975" cy="1815020"/>
            </a:xfrm>
            <a:prstGeom prst="rect">
              <a:avLst/>
            </a:prstGeom>
            <a:solidFill>
              <a:srgbClr val="25CAD2"/>
            </a:solidFill>
            <a:ln>
              <a:solidFill>
                <a:srgbClr val="25CAD2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marL="0" lvl="0" indent="0" algn="ctr" defTabSz="16002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altLang="ko-KR" sz="2800" dirty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endParaRPr>
            </a:p>
            <a:p>
              <a:pPr marL="0" lvl="0" indent="0" algn="ctr" defTabSz="16002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ko-KR" altLang="en-US" sz="2800" kern="1200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956935-9901-4EE8-AD3A-35B55E8BBEB5}"/>
              </a:ext>
            </a:extLst>
          </p:cNvPr>
          <p:cNvGrpSpPr/>
          <p:nvPr/>
        </p:nvGrpSpPr>
        <p:grpSpPr>
          <a:xfrm>
            <a:off x="2291134" y="1398200"/>
            <a:ext cx="7397975" cy="2354489"/>
            <a:chOff x="0" y="0"/>
            <a:chExt cx="7397975" cy="2791501"/>
          </a:xfrm>
        </p:grpSpPr>
        <p:sp>
          <p:nvSpPr>
            <p:cNvPr id="10" name="설명선: 위쪽 화살표 9">
              <a:extLst>
                <a:ext uri="{FF2B5EF4-FFF2-40B4-BE49-F238E27FC236}">
                  <a16:creationId xmlns:a16="http://schemas.microsoft.com/office/drawing/2014/main" id="{BDDD129B-3C7D-4F70-A515-F5311CCC7BC0}"/>
                </a:ext>
              </a:extLst>
            </p:cNvPr>
            <p:cNvSpPr/>
            <p:nvPr/>
          </p:nvSpPr>
          <p:spPr>
            <a:xfrm rot="10800000">
              <a:off x="0" y="0"/>
              <a:ext cx="7397975" cy="2791501"/>
            </a:xfrm>
            <a:prstGeom prst="upArrowCallout">
              <a:avLst/>
            </a:prstGeom>
            <a:ln>
              <a:solidFill>
                <a:srgbClr val="25CAD2"/>
              </a:solidFill>
            </a:ln>
          </p:spPr>
          <p:style>
            <a:ln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2" name="설명선: 위쪽 화살표 6">
              <a:extLst>
                <a:ext uri="{FF2B5EF4-FFF2-40B4-BE49-F238E27FC236}">
                  <a16:creationId xmlns:a16="http://schemas.microsoft.com/office/drawing/2014/main" id="{740E18CF-D139-4E89-B82F-6F83A8B88FC8}"/>
                </a:ext>
              </a:extLst>
            </p:cNvPr>
            <p:cNvSpPr txBox="1"/>
            <p:nvPr/>
          </p:nvSpPr>
          <p:spPr>
            <a:xfrm rot="21600000">
              <a:off x="0" y="0"/>
              <a:ext cx="7397975" cy="1813834"/>
            </a:xfrm>
            <a:prstGeom prst="rect">
              <a:avLst/>
            </a:prstGeom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56032" tIns="256032" rIns="256032" bIns="256032" numCol="1" spcCol="1270" anchor="ctr" anchorCtr="0">
              <a:noAutofit/>
            </a:bodyPr>
            <a:lstStyle/>
            <a:p>
              <a:pPr marL="0" lvl="0" indent="0" algn="ctr" defTabSz="16002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ko-KR" altLang="en-US" sz="2800" kern="1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제조</a:t>
              </a:r>
              <a:r>
                <a:rPr lang="en-US" altLang="ko-KR" sz="2800" kern="1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, </a:t>
              </a:r>
              <a:r>
                <a:rPr lang="ko-KR" altLang="en-US" sz="2800" kern="1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유통</a:t>
              </a:r>
              <a:r>
                <a:rPr lang="en-US" altLang="ko-KR" sz="2800" kern="1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, </a:t>
              </a:r>
              <a:r>
                <a:rPr lang="ko-KR" altLang="en-US" sz="2800" kern="1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건설</a:t>
              </a:r>
              <a:r>
                <a:rPr lang="en-US" altLang="ko-KR" sz="2800" kern="1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, </a:t>
              </a:r>
              <a:r>
                <a:rPr lang="ko-KR" altLang="en-US" sz="2800" kern="1200" dirty="0">
                  <a:latin typeface="나눔고딕 ExtraBold" panose="020D0904000000000000" pitchFamily="50" charset="-127"/>
                  <a:ea typeface="나눔고딕 ExtraBold" panose="020D0904000000000000" pitchFamily="50" charset="-127"/>
                </a:rPr>
                <a:t>단순 서비스 중심</a:t>
              </a: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04DDF49E-823E-4492-AF0C-324123188A40}"/>
              </a:ext>
            </a:extLst>
          </p:cNvPr>
          <p:cNvSpPr/>
          <p:nvPr/>
        </p:nvSpPr>
        <p:spPr>
          <a:xfrm>
            <a:off x="3048000" y="4771150"/>
            <a:ext cx="6096000" cy="14641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altLang="ko-KR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SW</a:t>
            </a:r>
            <a:r>
              <a:rPr lang="ko-KR" alt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중심 사회</a:t>
            </a:r>
            <a:endParaRPr lang="en-US" altLang="ko-KR" sz="1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342900" indent="-342900" algn="ctr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dirty="0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SW</a:t>
            </a:r>
            <a:r>
              <a:rPr lang="ko-KR" altLang="en-US" sz="1600" dirty="0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혁신과 성장</a:t>
            </a:r>
            <a:r>
              <a:rPr lang="en-US" altLang="ko-KR" sz="1600" dirty="0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1600" dirty="0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가치 창출의 중심이 되는 사회</a:t>
            </a:r>
            <a:endParaRPr lang="en-US" altLang="ko-KR" sz="1600" dirty="0"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342900" indent="-342900" algn="ctr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dirty="0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SW</a:t>
            </a:r>
            <a:r>
              <a:rPr lang="ko-KR" altLang="en-US" sz="1600" dirty="0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가 </a:t>
            </a:r>
            <a:r>
              <a:rPr lang="ko-KR" altLang="en-US" sz="1600" dirty="0" err="1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개인ㆍ기업ㆍ국가의</a:t>
            </a:r>
            <a:r>
              <a:rPr lang="ko-KR" altLang="en-US" sz="1600" dirty="0"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경쟁력을 좌우하는 사회</a:t>
            </a:r>
            <a:endParaRPr lang="ko-KR" altLang="en-US" sz="16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1AC23B-A64F-4284-89F4-9498FA9E65F9}"/>
              </a:ext>
            </a:extLst>
          </p:cNvPr>
          <p:cNvSpPr/>
          <p:nvPr/>
        </p:nvSpPr>
        <p:spPr>
          <a:xfrm>
            <a:off x="3384279" y="4222867"/>
            <a:ext cx="5211684" cy="4801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ko-KR" sz="2800" dirty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SW</a:t>
            </a:r>
            <a:r>
              <a:rPr lang="ko-KR" altLang="en-US" sz="2800" dirty="0">
                <a:solidFill>
                  <a:schemeClr val="bg1"/>
                </a:solidFill>
                <a:latin typeface="나눔고딕 ExtraBold" pitchFamily="50" charset="-127"/>
                <a:ea typeface="나눔고딕 ExtraBold" pitchFamily="50" charset="-127"/>
              </a:rPr>
              <a:t>를 중심으로 한 융합기술 사회</a:t>
            </a:r>
            <a:endParaRPr lang="en-US" altLang="ko-KR" sz="2800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217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4</a:t>
            </a:r>
            <a:r>
              <a:rPr lang="ko-KR" altLang="en-US" sz="2800" dirty="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 산업혁명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4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차 산업혁명과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SW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</p:txBody>
      </p:sp>
      <p:pic>
        <p:nvPicPr>
          <p:cNvPr id="5" name="_x48868928" descr="EMB00000bc00f9e">
            <a:extLst>
              <a:ext uri="{FF2B5EF4-FFF2-40B4-BE49-F238E27FC236}">
                <a16:creationId xmlns:a16="http://schemas.microsoft.com/office/drawing/2014/main" id="{DF7AB097-DD1F-476C-AB9A-F9AEB82C2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9"/>
          <a:stretch>
            <a:fillRect/>
          </a:stretch>
        </p:blipFill>
        <p:spPr bwMode="auto">
          <a:xfrm>
            <a:off x="390980" y="1052236"/>
            <a:ext cx="7998597" cy="558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901A917-ED1F-499C-A624-802EF4C83642}"/>
              </a:ext>
            </a:extLst>
          </p:cNvPr>
          <p:cNvSpPr/>
          <p:nvPr/>
        </p:nvSpPr>
        <p:spPr>
          <a:xfrm>
            <a:off x="8378688" y="1946437"/>
            <a:ext cx="3081130" cy="4136312"/>
          </a:xfrm>
          <a:prstGeom prst="roundRect">
            <a:avLst>
              <a:gd name="adj" fmla="val 2796"/>
            </a:avLst>
          </a:prstGeom>
          <a:noFill/>
          <a:ln w="19050">
            <a:solidFill>
              <a:srgbClr val="46D6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" b="1" dirty="0">
              <a:solidFill>
                <a:srgbClr val="46D6DF"/>
              </a:solidFill>
            </a:endParaRPr>
          </a:p>
          <a:p>
            <a:r>
              <a:rPr lang="en-US" altLang="ko-KR" sz="2000" b="1" dirty="0">
                <a:solidFill>
                  <a:srgbClr val="46D6DF"/>
                </a:solidFill>
              </a:rPr>
              <a:t>IoT (</a:t>
            </a:r>
            <a:r>
              <a:rPr lang="ko-KR" altLang="en-US" sz="2000" b="1" dirty="0">
                <a:solidFill>
                  <a:srgbClr val="46D6DF"/>
                </a:solidFill>
              </a:rPr>
              <a:t>사물인터넷</a:t>
            </a:r>
            <a:r>
              <a:rPr lang="en-US" altLang="ko-KR" sz="2000" b="1" dirty="0">
                <a:solidFill>
                  <a:srgbClr val="46D6DF"/>
                </a:solidFill>
              </a:rPr>
              <a:t>)</a:t>
            </a:r>
            <a:endParaRPr lang="en-US" altLang="ko-KR" sz="2000" dirty="0">
              <a:solidFill>
                <a:srgbClr val="46D6DF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46D6DF"/>
                </a:solidFill>
              </a:rPr>
              <a:t>무선 통신을 통해 각종 사물을 연결하는 기술</a:t>
            </a:r>
            <a:endParaRPr lang="en-US" altLang="ko-KR" dirty="0">
              <a:solidFill>
                <a:srgbClr val="46D6DF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sz="2400" b="1" dirty="0">
              <a:solidFill>
                <a:srgbClr val="46D6DF"/>
              </a:solidFill>
            </a:endParaRPr>
          </a:p>
          <a:p>
            <a:r>
              <a:rPr lang="en-US" altLang="ko-KR" sz="2000" b="1" dirty="0">
                <a:solidFill>
                  <a:srgbClr val="46D6DF"/>
                </a:solidFill>
              </a:rPr>
              <a:t>CPS (</a:t>
            </a:r>
            <a:r>
              <a:rPr lang="ko-KR" altLang="en-US" sz="2000" b="1" dirty="0">
                <a:solidFill>
                  <a:srgbClr val="46D6DF"/>
                </a:solidFill>
              </a:rPr>
              <a:t>가상 물리 시스템</a:t>
            </a:r>
            <a:r>
              <a:rPr lang="en-US" altLang="ko-KR" sz="2000" b="1" dirty="0">
                <a:solidFill>
                  <a:srgbClr val="46D6DF"/>
                </a:solidFill>
              </a:rPr>
              <a:t>)</a:t>
            </a:r>
            <a:r>
              <a:rPr lang="en-US" altLang="ko-KR" sz="2000" dirty="0">
                <a:solidFill>
                  <a:srgbClr val="46D6DF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46D6DF"/>
                </a:solidFill>
              </a:rPr>
              <a:t>사이버</a:t>
            </a:r>
            <a:r>
              <a:rPr lang="en-US" altLang="ko-KR" dirty="0">
                <a:solidFill>
                  <a:srgbClr val="46D6DF"/>
                </a:solidFill>
              </a:rPr>
              <a:t>-</a:t>
            </a:r>
            <a:r>
              <a:rPr lang="ko-KR" altLang="en-US" dirty="0">
                <a:solidFill>
                  <a:srgbClr val="46D6DF"/>
                </a:solidFill>
              </a:rPr>
              <a:t>물리 세계를 융합하여 지속적인 변화에 능동적으로 적응하고 제어하는 시스템</a:t>
            </a:r>
            <a:endParaRPr lang="en-US" altLang="ko-KR" dirty="0">
              <a:solidFill>
                <a:srgbClr val="46D6DF"/>
              </a:solidFill>
            </a:endParaRPr>
          </a:p>
          <a:p>
            <a:pPr marL="285750" indent="-285750">
              <a:buFontTx/>
              <a:buChar char="-"/>
            </a:pPr>
            <a:endParaRPr lang="en-US" altLang="ko-KR" sz="2400" b="1" dirty="0">
              <a:solidFill>
                <a:srgbClr val="46D6DF"/>
              </a:solidFill>
            </a:endParaRPr>
          </a:p>
          <a:p>
            <a:r>
              <a:rPr lang="en-US" altLang="ko-KR" sz="2000" b="1" dirty="0">
                <a:solidFill>
                  <a:srgbClr val="46D6DF"/>
                </a:solidFill>
              </a:rPr>
              <a:t>AI (</a:t>
            </a:r>
            <a:r>
              <a:rPr lang="ko-KR" altLang="en-US" sz="2000" b="1" dirty="0">
                <a:solidFill>
                  <a:srgbClr val="46D6DF"/>
                </a:solidFill>
              </a:rPr>
              <a:t>인공 지능</a:t>
            </a:r>
            <a:r>
              <a:rPr lang="en-US" altLang="ko-KR" sz="2000" b="1" dirty="0">
                <a:solidFill>
                  <a:srgbClr val="46D6DF"/>
                </a:solidFill>
              </a:rPr>
              <a:t>)</a:t>
            </a:r>
            <a:r>
              <a:rPr lang="en-US" altLang="ko-KR" sz="2400" dirty="0">
                <a:solidFill>
                  <a:srgbClr val="46D6DF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46D6DF"/>
                </a:solidFill>
              </a:rPr>
              <a:t>인간의 지능을 인공적으로 구현하는 것</a:t>
            </a:r>
            <a:endParaRPr lang="en-US" altLang="ko-KR" dirty="0">
              <a:solidFill>
                <a:srgbClr val="46D6DF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28A046-AD7D-4DC1-8B1D-1396E54E951A}"/>
              </a:ext>
            </a:extLst>
          </p:cNvPr>
          <p:cNvSpPr/>
          <p:nvPr/>
        </p:nvSpPr>
        <p:spPr>
          <a:xfrm>
            <a:off x="8388626" y="1361662"/>
            <a:ext cx="3081130" cy="584775"/>
          </a:xfrm>
          <a:prstGeom prst="roundRect">
            <a:avLst/>
          </a:prstGeom>
          <a:solidFill>
            <a:srgbClr val="46D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4</a:t>
            </a:r>
            <a:r>
              <a:rPr lang="ko-KR" altLang="en-US" b="1" dirty="0"/>
              <a:t>차 산업혁명 키워드</a:t>
            </a:r>
          </a:p>
        </p:txBody>
      </p:sp>
    </p:spTree>
    <p:extLst>
      <p:ext uri="{BB962C8B-B14F-4D97-AF65-F5344CB8AC3E}">
        <p14:creationId xmlns:p14="http://schemas.microsoft.com/office/powerpoint/2010/main" val="254372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코딩이란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?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pic>
        <p:nvPicPr>
          <p:cNvPr id="2" name="온라인 미디어 1" title="코딩, 소프트웨어 시대 - 어렵지 않은 이야기, 코딩이란?">
            <a:hlinkClick r:id="" action="ppaction://media"/>
            <a:extLst>
              <a:ext uri="{FF2B5EF4-FFF2-40B4-BE49-F238E27FC236}">
                <a16:creationId xmlns:a16="http://schemas.microsoft.com/office/drawing/2014/main" id="{0BDECA44-15EB-43E2-80FE-5FD11D065B5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720028" y="1487449"/>
            <a:ext cx="8751944" cy="4922968"/>
          </a:xfrm>
          <a:prstGeom prst="rect">
            <a:avLst/>
          </a:prstGeom>
        </p:spPr>
      </p:pic>
      <p:sp>
        <p:nvSpPr>
          <p:cNvPr id="6" name="부제목 2">
            <a:extLst>
              <a:ext uri="{FF2B5EF4-FFF2-40B4-BE49-F238E27FC236}">
                <a16:creationId xmlns:a16="http://schemas.microsoft.com/office/drawing/2014/main" id="{F1A08305-D12E-40D2-A3C4-7FC8F743107B}"/>
              </a:ext>
            </a:extLst>
          </p:cNvPr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4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차 산업혁명과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SW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18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2"/>
          <p:cNvSpPr txBox="1">
            <a:spLocks/>
          </p:cNvSpPr>
          <p:nvPr/>
        </p:nvSpPr>
        <p:spPr>
          <a:xfrm>
            <a:off x="6985343" y="3847153"/>
            <a:ext cx="4985940" cy="22217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b="1">
                <a:solidFill>
                  <a:srgbClr val="333E48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LEVEL 2</a:t>
            </a:r>
            <a:endParaRPr lang="en-US" altLang="ko-KR" b="1" dirty="0">
              <a:solidFill>
                <a:srgbClr val="333E48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</a:t>
            </a:r>
            <a:r>
              <a:rPr lang="ko-KR" altLang="en-US" sz="32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와 함께하는</a:t>
            </a:r>
            <a:r>
              <a:rPr lang="en-US" altLang="ko-KR" sz="32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 SW </a:t>
            </a:r>
            <a:r>
              <a:rPr lang="ko-KR" altLang="en-US" sz="32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교실</a:t>
            </a:r>
            <a:endParaRPr lang="en-US" altLang="ko-KR" sz="3200" b="1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cs typeface="Roboto" panose="02000000000000000000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32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01 </a:t>
            </a:r>
            <a:r>
              <a:rPr lang="ko-KR" altLang="en-US" sz="32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우리 주변의 </a:t>
            </a:r>
            <a:r>
              <a:rPr lang="en-US" altLang="ko-KR" sz="3200" b="1" dirty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SW</a:t>
            </a:r>
          </a:p>
        </p:txBody>
      </p:sp>
      <p:cxnSp>
        <p:nvCxnSpPr>
          <p:cNvPr id="11" name="직선 연결선[R] 10"/>
          <p:cNvCxnSpPr/>
          <p:nvPr/>
        </p:nvCxnSpPr>
        <p:spPr>
          <a:xfrm>
            <a:off x="6798946" y="3942197"/>
            <a:ext cx="0" cy="390664"/>
          </a:xfrm>
          <a:prstGeom prst="line">
            <a:avLst/>
          </a:prstGeom>
          <a:ln w="101600">
            <a:solidFill>
              <a:srgbClr val="333E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/>
          <p:cNvCxnSpPr>
            <a:cxnSpLocks/>
          </p:cNvCxnSpPr>
          <p:nvPr/>
        </p:nvCxnSpPr>
        <p:spPr>
          <a:xfrm>
            <a:off x="6798946" y="4500087"/>
            <a:ext cx="0" cy="1088950"/>
          </a:xfrm>
          <a:prstGeom prst="line">
            <a:avLst/>
          </a:prstGeom>
          <a:ln w="1016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159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0" y="348193"/>
            <a:ext cx="12191999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800">
                <a:solidFill>
                  <a:srgbClr val="333E48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언플러그드</a:t>
            </a:r>
            <a:r>
              <a:rPr kumimoji="0" lang="en-US" altLang="ko-KR" sz="2800" b="0" i="0" u="none" strike="noStrike" kern="1200" cap="none" spc="0" normalizeH="0" baseline="0" noProof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: 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MODI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만나기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(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심화</a:t>
            </a: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srgbClr val="333E48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333E48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972141" y="2707621"/>
            <a:ext cx="8247771" cy="15081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45D6D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</a:rPr>
              <a:t>학습목표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rgbClr val="45D6D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srgbClr val="45D6D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2400" dirty="0">
                <a:solidFill>
                  <a:srgbClr val="45D6D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입력</a:t>
            </a:r>
            <a:r>
              <a:rPr lang="en-US" altLang="ko-KR" sz="2400" dirty="0">
                <a:solidFill>
                  <a:srgbClr val="45D6D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 </a:t>
            </a:r>
            <a:r>
              <a:rPr lang="ko-KR" altLang="en-US" sz="2400" dirty="0">
                <a:solidFill>
                  <a:srgbClr val="45D6D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출력 모듈 여러 개를 동시에 연결하여 활용할 수 있다</a:t>
            </a:r>
            <a:r>
              <a:rPr lang="en-US" altLang="ko-KR" sz="2400" dirty="0">
                <a:solidFill>
                  <a:srgbClr val="45D6D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</a:p>
          <a:p>
            <a:pPr marL="457200" marR="0" lvl="0" indent="-4572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2400" dirty="0">
                <a:solidFill>
                  <a:srgbClr val="45D6D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네트워크 모듈의 원격 통신 기능을 활용할 수 있다</a:t>
            </a:r>
            <a:r>
              <a:rPr lang="en-US" altLang="ko-KR" sz="2400" dirty="0">
                <a:solidFill>
                  <a:srgbClr val="45D6D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.</a:t>
            </a: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srgbClr val="45D6D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4526010" y="2707621"/>
            <a:ext cx="3047021" cy="299890"/>
            <a:chOff x="4498797" y="2925635"/>
            <a:chExt cx="3047021" cy="299890"/>
          </a:xfrm>
        </p:grpSpPr>
        <p:grpSp>
          <p:nvGrpSpPr>
            <p:cNvPr id="5" name="그룹 4"/>
            <p:cNvGrpSpPr/>
            <p:nvPr/>
          </p:nvGrpSpPr>
          <p:grpSpPr>
            <a:xfrm>
              <a:off x="7118508" y="2925635"/>
              <a:ext cx="427310" cy="299890"/>
              <a:chOff x="7118508" y="2925635"/>
              <a:chExt cx="427310" cy="299890"/>
            </a:xfrm>
          </p:grpSpPr>
          <p:pic>
            <p:nvPicPr>
              <p:cNvPr id="9" name="그림 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118508" y="2925635"/>
                <a:ext cx="213655" cy="299890"/>
              </a:xfrm>
              <a:prstGeom prst="rect">
                <a:avLst/>
              </a:prstGeom>
            </p:spPr>
          </p:pic>
          <p:pic>
            <p:nvPicPr>
              <p:cNvPr id="10" name="그림 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332163" y="2925635"/>
                <a:ext cx="213655" cy="299890"/>
              </a:xfrm>
              <a:prstGeom prst="rect">
                <a:avLst/>
              </a:prstGeom>
            </p:spPr>
          </p:pic>
        </p:grpSp>
        <p:grpSp>
          <p:nvGrpSpPr>
            <p:cNvPr id="6" name="그룹 5"/>
            <p:cNvGrpSpPr/>
            <p:nvPr/>
          </p:nvGrpSpPr>
          <p:grpSpPr>
            <a:xfrm rot="10800000">
              <a:off x="4498797" y="2925635"/>
              <a:ext cx="427310" cy="299890"/>
              <a:chOff x="1894745" y="2925635"/>
              <a:chExt cx="427310" cy="299890"/>
            </a:xfrm>
          </p:grpSpPr>
          <p:pic>
            <p:nvPicPr>
              <p:cNvPr id="7" name="그림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94745" y="2925635"/>
                <a:ext cx="213655" cy="299890"/>
              </a:xfrm>
              <a:prstGeom prst="rect">
                <a:avLst/>
              </a:prstGeom>
            </p:spPr>
          </p:pic>
          <p:pic>
            <p:nvPicPr>
              <p:cNvPr id="8" name="그림 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08400" y="2925635"/>
                <a:ext cx="213655" cy="29989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7304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모디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 소개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B05143-15E9-4A68-AA92-9A0958165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334" y="1064632"/>
            <a:ext cx="10165332" cy="5842144"/>
          </a:xfrm>
          <a:prstGeom prst="rect">
            <a:avLst/>
          </a:prstGeom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C144AAC0-8380-4497-BF7C-E6989C59A73F}"/>
              </a:ext>
            </a:extLst>
          </p:cNvPr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</p:spTree>
    <p:extLst>
      <p:ext uri="{BB962C8B-B14F-4D97-AF65-F5344CB8AC3E}">
        <p14:creationId xmlns:p14="http://schemas.microsoft.com/office/powerpoint/2010/main" val="2207444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MODI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모듈의 종류와 기능</a:t>
            </a: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606294F-2FEB-4D8C-9301-6EA0DA8B0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5412" y="1253790"/>
            <a:ext cx="1591629" cy="260547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DC90A58-BE04-4D22-85A9-52BB08DF9832}"/>
              </a:ext>
            </a:extLst>
          </p:cNvPr>
          <p:cNvSpPr/>
          <p:nvPr/>
        </p:nvSpPr>
        <p:spPr>
          <a:xfrm>
            <a:off x="1670495" y="5803597"/>
            <a:ext cx="2286000" cy="7467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8B69DD"/>
                </a:solidFill>
              </a:rPr>
              <a:t>입력 모듈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FBF915-ACFA-4BA3-88B5-4F30617E58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680" y="1695848"/>
            <a:ext cx="1591630" cy="2062009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A59179A-2925-48ED-A264-8D7379344E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69484" b="22394"/>
          <a:stretch/>
        </p:blipFill>
        <p:spPr>
          <a:xfrm>
            <a:off x="1801111" y="4226165"/>
            <a:ext cx="2023612" cy="154006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2F14EE5-FAE4-455D-AB63-A4A7FD64E7F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213" r="33383" b="22380"/>
          <a:stretch/>
        </p:blipFill>
        <p:spPr>
          <a:xfrm>
            <a:off x="5003704" y="4225869"/>
            <a:ext cx="2215072" cy="154036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9081E31-EBA2-4DAB-8F69-4742E6658E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8575" r="908" b="22380"/>
          <a:stretch/>
        </p:blipFill>
        <p:spPr>
          <a:xfrm>
            <a:off x="8445455" y="4142142"/>
            <a:ext cx="2023612" cy="1540365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A3AEE3-C1B1-49F1-9AEC-A33BC13553F3}"/>
              </a:ext>
            </a:extLst>
          </p:cNvPr>
          <p:cNvSpPr/>
          <p:nvPr/>
        </p:nvSpPr>
        <p:spPr>
          <a:xfrm>
            <a:off x="4909694" y="5766234"/>
            <a:ext cx="2286000" cy="7467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F3981E"/>
                </a:solidFill>
              </a:rPr>
              <a:t>출력 모듈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9103DC2-907D-46DF-ACB7-7739D1F34FA0}"/>
              </a:ext>
            </a:extLst>
          </p:cNvPr>
          <p:cNvSpPr/>
          <p:nvPr/>
        </p:nvSpPr>
        <p:spPr>
          <a:xfrm>
            <a:off x="8314261" y="5766234"/>
            <a:ext cx="2286000" cy="74676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F4C637"/>
                </a:solidFill>
              </a:rPr>
              <a:t>셋업 모듈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3DAB3C3-3DFF-4594-9D2F-31A912A786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351" y="1793931"/>
            <a:ext cx="2023612" cy="206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670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3540E4DD-DEBE-49FA-A24F-E17E99E1E46D}"/>
              </a:ext>
            </a:extLst>
          </p:cNvPr>
          <p:cNvGrpSpPr/>
          <p:nvPr/>
        </p:nvGrpSpPr>
        <p:grpSpPr>
          <a:xfrm>
            <a:off x="5329255" y="2742565"/>
            <a:ext cx="4150633" cy="457715"/>
            <a:chOff x="3540895" y="3892823"/>
            <a:chExt cx="1472668" cy="344243"/>
          </a:xfrm>
        </p:grpSpPr>
        <p:sp>
          <p:nvSpPr>
            <p:cNvPr id="40" name="화살표: 갈매기형 수장 39">
              <a:extLst>
                <a:ext uri="{FF2B5EF4-FFF2-40B4-BE49-F238E27FC236}">
                  <a16:creationId xmlns:a16="http://schemas.microsoft.com/office/drawing/2014/main" id="{C10CBABC-2276-4E3E-9A62-84232BD845F3}"/>
                </a:ext>
              </a:extLst>
            </p:cNvPr>
            <p:cNvSpPr/>
            <p:nvPr/>
          </p:nvSpPr>
          <p:spPr>
            <a:xfrm>
              <a:off x="3540895" y="3892824"/>
              <a:ext cx="1437767" cy="344242"/>
            </a:xfrm>
            <a:prstGeom prst="chevron">
              <a:avLst/>
            </a:prstGeom>
            <a:solidFill>
              <a:srgbClr val="F78F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943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출력 모듈</a:t>
              </a: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32748985-D361-4148-BB08-54040772B24E}"/>
                </a:ext>
              </a:extLst>
            </p:cNvPr>
            <p:cNvSpPr/>
            <p:nvPr>
              <p:custDataLst>
                <p:custData r:id="rId1"/>
              </p:custDataLst>
            </p:nvPr>
          </p:nvSpPr>
          <p:spPr>
            <a:xfrm>
              <a:off x="4792583" y="3892823"/>
              <a:ext cx="220980" cy="344243"/>
            </a:xfrm>
            <a:prstGeom prst="rect">
              <a:avLst/>
            </a:prstGeom>
            <a:solidFill>
              <a:srgbClr val="F78F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94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53" name="화살표: 오각형 52">
            <a:extLst>
              <a:ext uri="{FF2B5EF4-FFF2-40B4-BE49-F238E27FC236}">
                <a16:creationId xmlns:a16="http://schemas.microsoft.com/office/drawing/2014/main" id="{E43A4ADB-0524-4339-8EAF-19E750CE5DD8}"/>
              </a:ext>
            </a:extLst>
          </p:cNvPr>
          <p:cNvSpPr/>
          <p:nvPr/>
        </p:nvSpPr>
        <p:spPr>
          <a:xfrm>
            <a:off x="607594" y="2748394"/>
            <a:ext cx="4827446" cy="457714"/>
          </a:xfrm>
          <a:prstGeom prst="homePlate">
            <a:avLst/>
          </a:prstGeom>
          <a:solidFill>
            <a:srgbClr val="7C64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4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입력 모듈</a:t>
            </a:r>
          </a:p>
        </p:txBody>
      </p:sp>
      <p:sp>
        <p:nvSpPr>
          <p:cNvPr id="56" name="화살표: 오각형 55">
            <a:extLst>
              <a:ext uri="{FF2B5EF4-FFF2-40B4-BE49-F238E27FC236}">
                <a16:creationId xmlns:a16="http://schemas.microsoft.com/office/drawing/2014/main" id="{E1E2BB77-F4D8-4E1E-8995-1B7F625888E9}"/>
              </a:ext>
            </a:extLst>
          </p:cNvPr>
          <p:cNvSpPr/>
          <p:nvPr/>
        </p:nvSpPr>
        <p:spPr>
          <a:xfrm>
            <a:off x="9585056" y="2742564"/>
            <a:ext cx="2030629" cy="457715"/>
          </a:xfrm>
          <a:prstGeom prst="homePlate">
            <a:avLst>
              <a:gd name="adj" fmla="val 0"/>
            </a:avLst>
          </a:prstGeom>
          <a:solidFill>
            <a:srgbClr val="EEBF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94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셋업 모듈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74BDD8A6-89B9-415F-83E5-5902A450F28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81" y="3399618"/>
            <a:ext cx="849942" cy="84994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31AAFC8-B731-4284-B6FA-B62125357C2F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0636" y="3399618"/>
            <a:ext cx="849942" cy="849942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98ADBCC-C9F9-44C3-9AA4-774CAD718A0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580" y="3419223"/>
            <a:ext cx="849942" cy="83875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41DC1978-ADED-44AA-BF31-2112780791E0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599" y="4922780"/>
            <a:ext cx="849942" cy="849942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DFFA1FE-EF2F-4599-A78D-90597C46FDFF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450" y="4922777"/>
            <a:ext cx="849942" cy="84994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5AE3274-9E59-4AF3-AE1B-4200CC757333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80" y="4922777"/>
            <a:ext cx="900268" cy="849942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C8CB9459-E025-4D41-8131-8C5C067C1E58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496" y="3419225"/>
            <a:ext cx="849942" cy="849942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CE0DAF2-813F-4CB9-960B-5673CF4F6617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5450" y="3399617"/>
            <a:ext cx="849942" cy="84994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0EE26DDF-1608-42FA-951A-3A36F614F1B3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508" y="4876839"/>
            <a:ext cx="838760" cy="84994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66BC00C7-3CB2-4179-B3F6-61D7F7C7144C}"/>
              </a:ext>
            </a:extLst>
          </p:cNvPr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921" y="4891828"/>
            <a:ext cx="997190" cy="8275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A6A1CD6E-8701-4BA2-8B94-81B8061EDA79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4909" y="3419223"/>
            <a:ext cx="849942" cy="849942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0999C95D-B468-433E-A68E-AF5F264936CE}"/>
              </a:ext>
            </a:extLst>
          </p:cNvPr>
          <p:cNvPicPr>
            <a:picLocks noChangeAspect="1"/>
          </p:cNvPicPr>
          <p:nvPr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337" y="3792648"/>
            <a:ext cx="853339" cy="167673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62B211A5-CAA8-4595-A6C3-8B20244735FA}"/>
              </a:ext>
            </a:extLst>
          </p:cNvPr>
          <p:cNvSpPr txBox="1"/>
          <p:nvPr/>
        </p:nvSpPr>
        <p:spPr>
          <a:xfrm>
            <a:off x="893577" y="4272129"/>
            <a:ext cx="686151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버튼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B77D1F-CCFA-46A6-82CF-2E5FB9D8BC63}"/>
              </a:ext>
            </a:extLst>
          </p:cNvPr>
          <p:cNvSpPr txBox="1"/>
          <p:nvPr/>
        </p:nvSpPr>
        <p:spPr>
          <a:xfrm>
            <a:off x="1958003" y="4300260"/>
            <a:ext cx="900572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다이얼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0C03FB-684A-4B74-A92D-2B2EA63F3F54}"/>
              </a:ext>
            </a:extLst>
          </p:cNvPr>
          <p:cNvSpPr txBox="1"/>
          <p:nvPr/>
        </p:nvSpPr>
        <p:spPr>
          <a:xfrm>
            <a:off x="3136853" y="4300260"/>
            <a:ext cx="900572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마이크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4EF3746-91F8-4A3D-B7F1-B47DCA6B2B0B}"/>
              </a:ext>
            </a:extLst>
          </p:cNvPr>
          <p:cNvSpPr txBox="1"/>
          <p:nvPr/>
        </p:nvSpPr>
        <p:spPr>
          <a:xfrm>
            <a:off x="717384" y="5772719"/>
            <a:ext cx="990629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적외선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C87D98-AFC9-44C2-9144-A6EC469057BE}"/>
              </a:ext>
            </a:extLst>
          </p:cNvPr>
          <p:cNvSpPr txBox="1"/>
          <p:nvPr/>
        </p:nvSpPr>
        <p:spPr>
          <a:xfrm>
            <a:off x="2024185" y="5801751"/>
            <a:ext cx="754768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환경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6F3B005-66C6-456C-B7EF-9A1E9ABD9A98}"/>
              </a:ext>
            </a:extLst>
          </p:cNvPr>
          <p:cNvSpPr txBox="1"/>
          <p:nvPr/>
        </p:nvSpPr>
        <p:spPr>
          <a:xfrm>
            <a:off x="2731309" y="5801750"/>
            <a:ext cx="1698223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자이로스코프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AD51F7-782B-444C-B6BA-8D3477E46047}"/>
              </a:ext>
            </a:extLst>
          </p:cNvPr>
          <p:cNvSpPr txBox="1"/>
          <p:nvPr/>
        </p:nvSpPr>
        <p:spPr>
          <a:xfrm>
            <a:off x="4280872" y="5460350"/>
            <a:ext cx="900268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초음파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CDD5FA-35E9-4500-9E5C-A82DF84C0763}"/>
              </a:ext>
            </a:extLst>
          </p:cNvPr>
          <p:cNvSpPr txBox="1"/>
          <p:nvPr/>
        </p:nvSpPr>
        <p:spPr>
          <a:xfrm>
            <a:off x="5823918" y="4319867"/>
            <a:ext cx="641747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LED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02810E-B3B9-4AB1-86B0-ACAFF7A17268}"/>
              </a:ext>
            </a:extLst>
          </p:cNvPr>
          <p:cNvSpPr txBox="1"/>
          <p:nvPr/>
        </p:nvSpPr>
        <p:spPr>
          <a:xfrm>
            <a:off x="7047974" y="4319867"/>
            <a:ext cx="990629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스피커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9BDB10-BA6F-4C80-83BB-EEA91AABE82E}"/>
              </a:ext>
            </a:extLst>
          </p:cNvPr>
          <p:cNvSpPr txBox="1"/>
          <p:nvPr/>
        </p:nvSpPr>
        <p:spPr>
          <a:xfrm>
            <a:off x="6510165" y="5778774"/>
            <a:ext cx="2216194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모터컨트롤러와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모터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6083EC-DD2B-44F1-9D32-3CBA619BB6C2}"/>
              </a:ext>
            </a:extLst>
          </p:cNvPr>
          <p:cNvSpPr txBox="1"/>
          <p:nvPr/>
        </p:nvSpPr>
        <p:spPr>
          <a:xfrm>
            <a:off x="8225372" y="4319865"/>
            <a:ext cx="1462357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디스플레이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7BD39A86-3D8E-4830-B99D-2C21E9722AEC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132137" y="4486318"/>
            <a:ext cx="853688" cy="1666188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30927571-46B3-4A34-923C-73D4099EBABF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4277" y="3419222"/>
            <a:ext cx="838760" cy="849943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8ABF5CF-5356-47C6-9872-1BEFC92BBBC6}"/>
              </a:ext>
            </a:extLst>
          </p:cNvPr>
          <p:cNvSpPr txBox="1"/>
          <p:nvPr/>
        </p:nvSpPr>
        <p:spPr>
          <a:xfrm>
            <a:off x="10034871" y="4317896"/>
            <a:ext cx="1098689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네트워크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5E567F2-A5E1-4FBC-97BC-DE4E3D000D83}"/>
              </a:ext>
            </a:extLst>
          </p:cNvPr>
          <p:cNvSpPr txBox="1"/>
          <p:nvPr/>
        </p:nvSpPr>
        <p:spPr>
          <a:xfrm>
            <a:off x="10063929" y="5788869"/>
            <a:ext cx="1098689" cy="32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배터리</a:t>
            </a: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CB00AA83-80E2-4C36-B60C-A42FB911E25D}"/>
              </a:ext>
            </a:extLst>
          </p:cNvPr>
          <p:cNvSpPr/>
          <p:nvPr/>
        </p:nvSpPr>
        <p:spPr>
          <a:xfrm>
            <a:off x="10986716" y="3599110"/>
            <a:ext cx="62721" cy="6272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5B4F7A82-97B9-4E80-8953-57ADE31C57B7}"/>
              </a:ext>
            </a:extLst>
          </p:cNvPr>
          <p:cNvSpPr/>
          <p:nvPr/>
        </p:nvSpPr>
        <p:spPr>
          <a:xfrm>
            <a:off x="10986716" y="3599110"/>
            <a:ext cx="62721" cy="6272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굴림" panose="020B0600000101010101" pitchFamily="50" charset="-127"/>
              <a:ea typeface="굴림" panose="020B0600000101010101" pitchFamily="50" charset="-127"/>
              <a:cs typeface="+mn-cs"/>
            </a:endParaRPr>
          </a:p>
        </p:txBody>
      </p:sp>
      <p:sp>
        <p:nvSpPr>
          <p:cNvPr id="61" name="부제목 2">
            <a:extLst>
              <a:ext uri="{FF2B5EF4-FFF2-40B4-BE49-F238E27FC236}">
                <a16:creationId xmlns:a16="http://schemas.microsoft.com/office/drawing/2014/main" id="{BE0E2213-19AF-47DA-82E7-5C1D5BAFB8FC}"/>
              </a:ext>
            </a:extLst>
          </p:cNvPr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  <p:sp>
        <p:nvSpPr>
          <p:cNvPr id="63" name="제목 3">
            <a:extLst>
              <a:ext uri="{FF2B5EF4-FFF2-40B4-BE49-F238E27FC236}">
                <a16:creationId xmlns:a16="http://schemas.microsoft.com/office/drawing/2014/main" id="{616DB94F-769C-4F86-BE5C-AA296DDBF4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모듈 기능 떠올리기</a:t>
            </a:r>
          </a:p>
        </p:txBody>
      </p:sp>
      <p:sp>
        <p:nvSpPr>
          <p:cNvPr id="64" name="제목 3">
            <a:extLst>
              <a:ext uri="{FF2B5EF4-FFF2-40B4-BE49-F238E27FC236}">
                <a16:creationId xmlns:a16="http://schemas.microsoft.com/office/drawing/2014/main" id="{301611E0-A481-4C9D-B4FC-500A35C15E9B}"/>
              </a:ext>
            </a:extLst>
          </p:cNvPr>
          <p:cNvSpPr txBox="1">
            <a:spLocks/>
          </p:cNvSpPr>
          <p:nvPr/>
        </p:nvSpPr>
        <p:spPr>
          <a:xfrm>
            <a:off x="692146" y="1173274"/>
            <a:ext cx="10836914" cy="10268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rPr>
              <a:t>각 모듈의 기능을 떠올려 봅시다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rPr>
              <a:t>.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rPr>
              <a:t>기능이 기억나지 않는 모듈이 있다면 모듈을 연결하여 확인해 봅시다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616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여러 모듈 자유롭게 연결하며 기능 발견하기</a:t>
            </a: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  <p:sp>
        <p:nvSpPr>
          <p:cNvPr id="36" name="제목 3">
            <a:extLst>
              <a:ext uri="{FF2B5EF4-FFF2-40B4-BE49-F238E27FC236}">
                <a16:creationId xmlns:a16="http://schemas.microsoft.com/office/drawing/2014/main" id="{BB63D167-BA0D-4A83-B831-553414B029B4}"/>
              </a:ext>
            </a:extLst>
          </p:cNvPr>
          <p:cNvSpPr txBox="1">
            <a:spLocks/>
          </p:cNvSpPr>
          <p:nvPr/>
        </p:nvSpPr>
        <p:spPr>
          <a:xfrm>
            <a:off x="692146" y="1173274"/>
            <a:ext cx="10836914" cy="10268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rPr>
              <a:t>하나의 입력 모듈에 여러 개의 출력 모듈이 연결되면 어떻게 되는지 알아봅시다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rPr>
              <a:t>.</a:t>
            </a:r>
          </a:p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ko-KR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rPr>
              <a:t>하나의 출력 모듈에 여러 개의 입력 모듈이 연결되면 어떻게 되는지 알아봅시다</a:t>
            </a:r>
            <a:r>
              <a:rPr kumimoji="0" lang="en-US" altLang="ko-K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rPr>
              <a:t>.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B2D9AF4-3512-4093-B82C-2EC6B0CF50AC}"/>
              </a:ext>
            </a:extLst>
          </p:cNvPr>
          <p:cNvGrpSpPr/>
          <p:nvPr/>
        </p:nvGrpSpPr>
        <p:grpSpPr>
          <a:xfrm>
            <a:off x="1490041" y="2482156"/>
            <a:ext cx="4023360" cy="4023360"/>
            <a:chOff x="1490041" y="2482156"/>
            <a:chExt cx="4023360" cy="4023360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0597D013-BE81-4E39-9267-68F8EF80CE82}"/>
                </a:ext>
              </a:extLst>
            </p:cNvPr>
            <p:cNvSpPr/>
            <p:nvPr/>
          </p:nvSpPr>
          <p:spPr>
            <a:xfrm>
              <a:off x="1490041" y="2482156"/>
              <a:ext cx="4023360" cy="402336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6B2F9E34-BF9B-4B35-93A1-C06E28DED722}"/>
                </a:ext>
              </a:extLst>
            </p:cNvPr>
            <p:cNvSpPr/>
            <p:nvPr/>
          </p:nvSpPr>
          <p:spPr>
            <a:xfrm>
              <a:off x="2959292" y="3944395"/>
              <a:ext cx="1084859" cy="1098883"/>
            </a:xfrm>
            <a:prstGeom prst="roundRect">
              <a:avLst>
                <a:gd name="adj" fmla="val 8605"/>
              </a:avLst>
            </a:prstGeom>
            <a:noFill/>
            <a:ln w="28575">
              <a:solidFill>
                <a:srgbClr val="7C64ED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C64ED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입력 모듈</a:t>
              </a: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47E75C40-BAE4-449F-9D00-56817E1C4CDD}"/>
                </a:ext>
              </a:extLst>
            </p:cNvPr>
            <p:cNvSpPr/>
            <p:nvPr/>
          </p:nvSpPr>
          <p:spPr>
            <a:xfrm>
              <a:off x="2959292" y="2712080"/>
              <a:ext cx="1084859" cy="1094331"/>
            </a:xfrm>
            <a:prstGeom prst="roundRect">
              <a:avLst>
                <a:gd name="adj" fmla="val 7346"/>
              </a:avLst>
            </a:prstGeom>
            <a:noFill/>
            <a:ln w="28575">
              <a:solidFill>
                <a:srgbClr val="F78F2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78F22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출력 모듈</a:t>
              </a: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9EB5E1B-3CE1-41FF-98DF-06AE2E9CA77D}"/>
                </a:ext>
              </a:extLst>
            </p:cNvPr>
            <p:cNvSpPr/>
            <p:nvPr/>
          </p:nvSpPr>
          <p:spPr>
            <a:xfrm>
              <a:off x="1733652" y="3948947"/>
              <a:ext cx="1084859" cy="1094331"/>
            </a:xfrm>
            <a:prstGeom prst="roundRect">
              <a:avLst>
                <a:gd name="adj" fmla="val 7346"/>
              </a:avLst>
            </a:prstGeom>
            <a:noFill/>
            <a:ln w="28575">
              <a:solidFill>
                <a:srgbClr val="F78F2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78F22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출력 모듈</a:t>
              </a:r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4627BA1-96CF-4E6B-BB47-CD36FA2782DE}"/>
                </a:ext>
              </a:extLst>
            </p:cNvPr>
            <p:cNvSpPr/>
            <p:nvPr/>
          </p:nvSpPr>
          <p:spPr>
            <a:xfrm>
              <a:off x="4184932" y="3948947"/>
              <a:ext cx="1084859" cy="1094331"/>
            </a:xfrm>
            <a:prstGeom prst="roundRect">
              <a:avLst>
                <a:gd name="adj" fmla="val 7346"/>
              </a:avLst>
            </a:prstGeom>
            <a:noFill/>
            <a:ln w="28575">
              <a:solidFill>
                <a:srgbClr val="F78F2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78F22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출력 모듈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2BB13528-24CD-43B5-A4D5-03A5E44390FA}"/>
                </a:ext>
              </a:extLst>
            </p:cNvPr>
            <p:cNvSpPr/>
            <p:nvPr/>
          </p:nvSpPr>
          <p:spPr>
            <a:xfrm>
              <a:off x="2959292" y="5181262"/>
              <a:ext cx="1084859" cy="1094331"/>
            </a:xfrm>
            <a:prstGeom prst="roundRect">
              <a:avLst>
                <a:gd name="adj" fmla="val 7346"/>
              </a:avLst>
            </a:prstGeom>
            <a:noFill/>
            <a:ln w="28575">
              <a:solidFill>
                <a:srgbClr val="F78F2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78F22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출력 모듈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1E99D1F-1413-4B4B-AE5B-E076A19871B3}"/>
              </a:ext>
            </a:extLst>
          </p:cNvPr>
          <p:cNvGrpSpPr/>
          <p:nvPr/>
        </p:nvGrpSpPr>
        <p:grpSpPr>
          <a:xfrm>
            <a:off x="6362548" y="2573199"/>
            <a:ext cx="4023360" cy="4023360"/>
            <a:chOff x="6362548" y="2573199"/>
            <a:chExt cx="4023360" cy="4023360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68BD964A-79A2-4877-84E8-E8BE26FAC718}"/>
                </a:ext>
              </a:extLst>
            </p:cNvPr>
            <p:cNvSpPr/>
            <p:nvPr/>
          </p:nvSpPr>
          <p:spPr>
            <a:xfrm>
              <a:off x="6362548" y="2573199"/>
              <a:ext cx="4023360" cy="402336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A94E7A43-4D32-4D18-8883-E06F7EC60EDD}"/>
                </a:ext>
              </a:extLst>
            </p:cNvPr>
            <p:cNvSpPr/>
            <p:nvPr/>
          </p:nvSpPr>
          <p:spPr>
            <a:xfrm>
              <a:off x="7831799" y="3944395"/>
              <a:ext cx="1084859" cy="1098883"/>
            </a:xfrm>
            <a:prstGeom prst="roundRect">
              <a:avLst>
                <a:gd name="adj" fmla="val 8605"/>
              </a:avLst>
            </a:prstGeom>
            <a:noFill/>
            <a:ln w="28575">
              <a:solidFill>
                <a:srgbClr val="F78F22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b="1" dirty="0">
                  <a:solidFill>
                    <a:srgbClr val="F78F22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출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78F22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력 모듈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CE4FFBCA-30B2-47FB-9F67-56A92A9DEC37}"/>
                </a:ext>
              </a:extLst>
            </p:cNvPr>
            <p:cNvSpPr/>
            <p:nvPr/>
          </p:nvSpPr>
          <p:spPr>
            <a:xfrm>
              <a:off x="7831799" y="2712080"/>
              <a:ext cx="1084859" cy="1094331"/>
            </a:xfrm>
            <a:prstGeom prst="roundRect">
              <a:avLst>
                <a:gd name="adj" fmla="val 7346"/>
              </a:avLst>
            </a:prstGeom>
            <a:noFill/>
            <a:ln w="28575">
              <a:solidFill>
                <a:srgbClr val="7C64ED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400" b="1" dirty="0">
                  <a:solidFill>
                    <a:srgbClr val="7C64ED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입</a:t>
              </a: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C64ED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력 모듈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D357638-A837-48CB-B36E-3695087D1DD9}"/>
                </a:ext>
              </a:extLst>
            </p:cNvPr>
            <p:cNvSpPr/>
            <p:nvPr/>
          </p:nvSpPr>
          <p:spPr>
            <a:xfrm>
              <a:off x="6606159" y="3948947"/>
              <a:ext cx="1084859" cy="1094331"/>
            </a:xfrm>
            <a:prstGeom prst="roundRect">
              <a:avLst>
                <a:gd name="adj" fmla="val 7346"/>
              </a:avLst>
            </a:prstGeom>
            <a:noFill/>
            <a:ln w="28575">
              <a:solidFill>
                <a:srgbClr val="7C64ED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C64ED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입력 모듈</a:t>
              </a:r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02A0293E-834F-4252-B082-728CF0D8EF7A}"/>
                </a:ext>
              </a:extLst>
            </p:cNvPr>
            <p:cNvSpPr/>
            <p:nvPr/>
          </p:nvSpPr>
          <p:spPr>
            <a:xfrm>
              <a:off x="9057439" y="3948947"/>
              <a:ext cx="1084859" cy="1094331"/>
            </a:xfrm>
            <a:prstGeom prst="roundRect">
              <a:avLst>
                <a:gd name="adj" fmla="val 7346"/>
              </a:avLst>
            </a:prstGeom>
            <a:noFill/>
            <a:ln w="28575">
              <a:solidFill>
                <a:srgbClr val="7C64ED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C64ED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입력 모듈</a:t>
              </a:r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9D0B4FE5-FF60-4779-BAAD-547F341AFB84}"/>
                </a:ext>
              </a:extLst>
            </p:cNvPr>
            <p:cNvSpPr/>
            <p:nvPr/>
          </p:nvSpPr>
          <p:spPr>
            <a:xfrm>
              <a:off x="7831799" y="5181262"/>
              <a:ext cx="1084859" cy="1094331"/>
            </a:xfrm>
            <a:prstGeom prst="roundRect">
              <a:avLst>
                <a:gd name="adj" fmla="val 7346"/>
              </a:avLst>
            </a:prstGeom>
            <a:noFill/>
            <a:ln w="28575">
              <a:solidFill>
                <a:srgbClr val="7C64ED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C64ED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입력 모듈</a:t>
              </a:r>
            </a:p>
          </p:txBody>
        </p:sp>
      </p:grp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F91ED2D-802C-455A-8D8D-CDCEAD5FD7A9}"/>
              </a:ext>
            </a:extLst>
          </p:cNvPr>
          <p:cNvCxnSpPr/>
          <p:nvPr/>
        </p:nvCxnSpPr>
        <p:spPr>
          <a:xfrm flipH="1">
            <a:off x="5442138" y="2627290"/>
            <a:ext cx="991674" cy="391517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그림 17">
            <a:extLst>
              <a:ext uri="{FF2B5EF4-FFF2-40B4-BE49-F238E27FC236}">
                <a16:creationId xmlns:a16="http://schemas.microsoft.com/office/drawing/2014/main" id="{EFC99615-09D8-424B-A1B2-F43203741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1307" y="1266463"/>
            <a:ext cx="733135" cy="5741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179ED19-E370-4415-A194-076FA015B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077" y="1755748"/>
            <a:ext cx="733135" cy="57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88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919AAA40-80EA-47EC-9E15-69F3A1137D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3843" y="4545622"/>
            <a:ext cx="1398613" cy="1888380"/>
          </a:xfrm>
          <a:prstGeom prst="rect">
            <a:avLst/>
          </a:prstGeom>
        </p:spPr>
      </p:pic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dirty="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하나의 입력 모듈에 여러 개의 출력 모듈 연결하기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A0E563FB-A1A2-44FF-976E-9B0C8D1C3989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774" y="3454653"/>
            <a:ext cx="1144756" cy="1144756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BC8FC52-7FD6-4BE1-B356-CA7EA0C52243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163" y="1661587"/>
            <a:ext cx="1144756" cy="1144756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E8A29BB6-431A-4776-BEF1-8734FD644BE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548" y="3454653"/>
            <a:ext cx="1129695" cy="1144757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8DC56E65-45E4-46F8-8347-DB281B2E3C00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144" y="3454653"/>
            <a:ext cx="1343079" cy="1114629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08E88E9E-D3EB-4D69-8AF8-9B0FEBDFCC70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000" y="3454653"/>
            <a:ext cx="1144756" cy="1144756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D68959D0-D772-4BFC-9F82-A808AFB88EFA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85870" y="4700623"/>
            <a:ext cx="1149656" cy="2243849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C9BE2486-D5E7-4D79-B4B4-DB0EF2299FD5}"/>
              </a:ext>
            </a:extLst>
          </p:cNvPr>
          <p:cNvSpPr/>
          <p:nvPr/>
        </p:nvSpPr>
        <p:spPr>
          <a:xfrm>
            <a:off x="4467908" y="3836562"/>
            <a:ext cx="404261" cy="380938"/>
          </a:xfrm>
          <a:prstGeom prst="rightArrow">
            <a:avLst/>
          </a:prstGeom>
          <a:solidFill>
            <a:srgbClr val="9672C6"/>
          </a:solidFill>
          <a:ln>
            <a:solidFill>
              <a:srgbClr val="9672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7A6640E8-A643-4043-A71A-6C20D0B225EF}"/>
              </a:ext>
            </a:extLst>
          </p:cNvPr>
          <p:cNvSpPr/>
          <p:nvPr/>
        </p:nvSpPr>
        <p:spPr>
          <a:xfrm rot="16200000">
            <a:off x="3509022" y="2940028"/>
            <a:ext cx="404261" cy="380938"/>
          </a:xfrm>
          <a:prstGeom prst="rightArrow">
            <a:avLst/>
          </a:prstGeom>
          <a:solidFill>
            <a:srgbClr val="9672C6"/>
          </a:solidFill>
          <a:ln>
            <a:solidFill>
              <a:srgbClr val="9672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화살표: 오른쪽 55">
            <a:extLst>
              <a:ext uri="{FF2B5EF4-FFF2-40B4-BE49-F238E27FC236}">
                <a16:creationId xmlns:a16="http://schemas.microsoft.com/office/drawing/2014/main" id="{15CB73EC-343A-4EF3-B2DA-69D9CCFF354B}"/>
              </a:ext>
            </a:extLst>
          </p:cNvPr>
          <p:cNvSpPr/>
          <p:nvPr/>
        </p:nvSpPr>
        <p:spPr>
          <a:xfrm rot="10800000">
            <a:off x="2507968" y="3836562"/>
            <a:ext cx="404261" cy="380938"/>
          </a:xfrm>
          <a:prstGeom prst="rightArrow">
            <a:avLst/>
          </a:prstGeom>
          <a:solidFill>
            <a:srgbClr val="9672C6"/>
          </a:solidFill>
          <a:ln>
            <a:solidFill>
              <a:srgbClr val="9672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A4266900-9146-4777-AE13-42D2556A1FE4}"/>
              </a:ext>
            </a:extLst>
          </p:cNvPr>
          <p:cNvSpPr/>
          <p:nvPr/>
        </p:nvSpPr>
        <p:spPr>
          <a:xfrm rot="16200000">
            <a:off x="3509021" y="4733095"/>
            <a:ext cx="404261" cy="380938"/>
          </a:xfrm>
          <a:prstGeom prst="rightArrow">
            <a:avLst/>
          </a:prstGeom>
          <a:solidFill>
            <a:srgbClr val="EDBD45"/>
          </a:solidFill>
          <a:ln>
            <a:solidFill>
              <a:srgbClr val="EDBD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F7F461E-2FC2-4612-8BA2-4E0598816EF7}"/>
              </a:ext>
            </a:extLst>
          </p:cNvPr>
          <p:cNvGrpSpPr/>
          <p:nvPr/>
        </p:nvGrpSpPr>
        <p:grpSpPr>
          <a:xfrm>
            <a:off x="6680566" y="5208380"/>
            <a:ext cx="3244855" cy="1192452"/>
            <a:chOff x="2606724" y="4284336"/>
            <a:chExt cx="3766782" cy="2020191"/>
          </a:xfrm>
        </p:grpSpPr>
        <p:sp>
          <p:nvSpPr>
            <p:cNvPr id="60" name="말풍선: 모서리가 둥근 사각형 6">
              <a:extLst>
                <a:ext uri="{FF2B5EF4-FFF2-40B4-BE49-F238E27FC236}">
                  <a16:creationId xmlns:a16="http://schemas.microsoft.com/office/drawing/2014/main" id="{045DAED5-D4F5-423F-B861-5C18DCB2C462}"/>
                </a:ext>
              </a:extLst>
            </p:cNvPr>
            <p:cNvSpPr/>
            <p:nvPr/>
          </p:nvSpPr>
          <p:spPr>
            <a:xfrm>
              <a:off x="2606724" y="4284336"/>
              <a:ext cx="3766782" cy="2020191"/>
            </a:xfrm>
            <a:prstGeom prst="wedgeRoundRectCallout">
              <a:avLst>
                <a:gd name="adj1" fmla="val 63597"/>
                <a:gd name="adj2" fmla="val 23901"/>
                <a:gd name="adj3" fmla="val 16667"/>
              </a:avLst>
            </a:prstGeom>
            <a:noFill/>
            <a:ln w="28575">
              <a:solidFill>
                <a:srgbClr val="45D6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8E57A4-8258-42FE-8105-657BFB10EF71}"/>
                </a:ext>
              </a:extLst>
            </p:cNvPr>
            <p:cNvSpPr txBox="1"/>
            <p:nvPr/>
          </p:nvSpPr>
          <p:spPr>
            <a:xfrm>
              <a:off x="2718459" y="4630871"/>
              <a:ext cx="3512836" cy="13271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인접한 모든 출력 모듈에 </a:t>
              </a:r>
              <a:endParaRPr lang="en-US" altLang="ko-KR" sz="16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영향을 줘요</a:t>
              </a:r>
              <a:r>
                <a:rPr lang="en-US" altLang="ko-KR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.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42E000A2-DDDB-4A96-A4E0-57D8659D0FDE}"/>
              </a:ext>
            </a:extLst>
          </p:cNvPr>
          <p:cNvSpPr txBox="1"/>
          <p:nvPr/>
        </p:nvSpPr>
        <p:spPr>
          <a:xfrm>
            <a:off x="3332682" y="123579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EB9355"/>
                </a:solidFill>
              </a:rPr>
              <a:t>100%</a:t>
            </a:r>
            <a:endParaRPr lang="ko-KR" altLang="en-US" dirty="0">
              <a:solidFill>
                <a:srgbClr val="EB9355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CAD9959-D6D8-4D9A-97F0-26659E579787}"/>
              </a:ext>
            </a:extLst>
          </p:cNvPr>
          <p:cNvSpPr txBox="1"/>
          <p:nvPr/>
        </p:nvSpPr>
        <p:spPr>
          <a:xfrm>
            <a:off x="464062" y="3842365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EB9355"/>
                </a:solidFill>
              </a:rPr>
              <a:t>100%</a:t>
            </a:r>
            <a:endParaRPr lang="ko-KR" altLang="en-US" dirty="0">
              <a:solidFill>
                <a:srgbClr val="EB9355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AD68CA-A014-459A-BD2A-A292A1BBF216}"/>
              </a:ext>
            </a:extLst>
          </p:cNvPr>
          <p:cNvSpPr txBox="1"/>
          <p:nvPr/>
        </p:nvSpPr>
        <p:spPr>
          <a:xfrm>
            <a:off x="7761506" y="3827301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EB9355"/>
                </a:solidFill>
              </a:rPr>
              <a:t>100%</a:t>
            </a:r>
            <a:endParaRPr lang="ko-KR" altLang="en-US" dirty="0">
              <a:solidFill>
                <a:srgbClr val="EB93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62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5" grpId="0" animBg="1"/>
      <p:bldP spid="56" grpId="0" animBg="1"/>
      <p:bldP spid="57" grpId="0" animBg="1"/>
      <p:bldP spid="62" grpId="0"/>
      <p:bldP spid="63" grpId="0"/>
      <p:bldP spid="6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07BF8B2-1BA4-403D-BFD2-4E4E1DFB7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0486" y="3974094"/>
            <a:ext cx="1523491" cy="246857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1BC8FC52-7FD6-4BE1-B356-CA7EA0C52243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444" y="3439589"/>
            <a:ext cx="1144756" cy="1144756"/>
          </a:xfrm>
          <a:prstGeom prst="rect">
            <a:avLst/>
          </a:prstGeom>
        </p:spPr>
      </p:pic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D68959D0-D772-4BFC-9F82-A808AFB88EF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669540" y="4700623"/>
            <a:ext cx="1149656" cy="2243849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C9BE2486-D5E7-4D79-B4B4-DB0EF2299FD5}"/>
              </a:ext>
            </a:extLst>
          </p:cNvPr>
          <p:cNvSpPr/>
          <p:nvPr/>
        </p:nvSpPr>
        <p:spPr>
          <a:xfrm rot="10800000">
            <a:off x="4842764" y="3836562"/>
            <a:ext cx="404261" cy="380938"/>
          </a:xfrm>
          <a:prstGeom prst="rightArrow">
            <a:avLst/>
          </a:prstGeom>
          <a:solidFill>
            <a:srgbClr val="9672C6"/>
          </a:solidFill>
          <a:ln>
            <a:solidFill>
              <a:srgbClr val="9672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화살표: 오른쪽 54">
            <a:extLst>
              <a:ext uri="{FF2B5EF4-FFF2-40B4-BE49-F238E27FC236}">
                <a16:creationId xmlns:a16="http://schemas.microsoft.com/office/drawing/2014/main" id="{7A6640E8-A643-4043-A71A-6C20D0B225EF}"/>
              </a:ext>
            </a:extLst>
          </p:cNvPr>
          <p:cNvSpPr/>
          <p:nvPr/>
        </p:nvSpPr>
        <p:spPr>
          <a:xfrm rot="5400000">
            <a:off x="3492692" y="2573356"/>
            <a:ext cx="404261" cy="380938"/>
          </a:xfrm>
          <a:prstGeom prst="rightArrow">
            <a:avLst/>
          </a:prstGeom>
          <a:solidFill>
            <a:srgbClr val="9672C6"/>
          </a:solidFill>
          <a:ln>
            <a:solidFill>
              <a:srgbClr val="9672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화살표: 오른쪽 55">
            <a:extLst>
              <a:ext uri="{FF2B5EF4-FFF2-40B4-BE49-F238E27FC236}">
                <a16:creationId xmlns:a16="http://schemas.microsoft.com/office/drawing/2014/main" id="{15CB73EC-343A-4EF3-B2DA-69D9CCFF354B}"/>
              </a:ext>
            </a:extLst>
          </p:cNvPr>
          <p:cNvSpPr/>
          <p:nvPr/>
        </p:nvSpPr>
        <p:spPr>
          <a:xfrm>
            <a:off x="2166073" y="3836562"/>
            <a:ext cx="404261" cy="380938"/>
          </a:xfrm>
          <a:prstGeom prst="rightArrow">
            <a:avLst/>
          </a:prstGeom>
          <a:solidFill>
            <a:srgbClr val="9672C6"/>
          </a:solidFill>
          <a:ln>
            <a:solidFill>
              <a:srgbClr val="9672C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화살표: 오른쪽 56">
            <a:extLst>
              <a:ext uri="{FF2B5EF4-FFF2-40B4-BE49-F238E27FC236}">
                <a16:creationId xmlns:a16="http://schemas.microsoft.com/office/drawing/2014/main" id="{A4266900-9146-4777-AE13-42D2556A1FE4}"/>
              </a:ext>
            </a:extLst>
          </p:cNvPr>
          <p:cNvSpPr/>
          <p:nvPr/>
        </p:nvSpPr>
        <p:spPr>
          <a:xfrm rot="16200000">
            <a:off x="3492691" y="4733095"/>
            <a:ext cx="404261" cy="380938"/>
          </a:xfrm>
          <a:prstGeom prst="rightArrow">
            <a:avLst/>
          </a:prstGeom>
          <a:solidFill>
            <a:srgbClr val="EDBD45"/>
          </a:solidFill>
          <a:ln>
            <a:solidFill>
              <a:srgbClr val="EDBD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F7F461E-2FC2-4612-8BA2-4E0598816EF7}"/>
              </a:ext>
            </a:extLst>
          </p:cNvPr>
          <p:cNvGrpSpPr/>
          <p:nvPr/>
        </p:nvGrpSpPr>
        <p:grpSpPr>
          <a:xfrm>
            <a:off x="6680566" y="5208380"/>
            <a:ext cx="3244855" cy="1192452"/>
            <a:chOff x="2606724" y="4284336"/>
            <a:chExt cx="3766782" cy="2020191"/>
          </a:xfrm>
        </p:grpSpPr>
        <p:sp>
          <p:nvSpPr>
            <p:cNvPr id="60" name="말풍선: 모서리가 둥근 사각형 6">
              <a:extLst>
                <a:ext uri="{FF2B5EF4-FFF2-40B4-BE49-F238E27FC236}">
                  <a16:creationId xmlns:a16="http://schemas.microsoft.com/office/drawing/2014/main" id="{045DAED5-D4F5-423F-B861-5C18DCB2C462}"/>
                </a:ext>
              </a:extLst>
            </p:cNvPr>
            <p:cNvSpPr/>
            <p:nvPr/>
          </p:nvSpPr>
          <p:spPr>
            <a:xfrm>
              <a:off x="2606724" y="4284336"/>
              <a:ext cx="3766782" cy="2020191"/>
            </a:xfrm>
            <a:prstGeom prst="wedgeRoundRectCallout">
              <a:avLst>
                <a:gd name="adj1" fmla="val 63597"/>
                <a:gd name="adj2" fmla="val 23901"/>
                <a:gd name="adj3" fmla="val 16667"/>
              </a:avLst>
            </a:prstGeom>
            <a:noFill/>
            <a:ln w="28575">
              <a:solidFill>
                <a:srgbClr val="45D6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38E57A4-8258-42FE-8105-657BFB10EF71}"/>
                </a:ext>
              </a:extLst>
            </p:cNvPr>
            <p:cNvSpPr txBox="1"/>
            <p:nvPr/>
          </p:nvSpPr>
          <p:spPr>
            <a:xfrm>
              <a:off x="2718459" y="4630871"/>
              <a:ext cx="3512836" cy="132712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인접한 모든 입력 모듈에 따라 영향을 나누어 받아요</a:t>
              </a:r>
              <a:r>
                <a:rPr lang="en-US" altLang="ko-KR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.</a:t>
              </a: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758E0CA1-374C-4074-9869-4084F0F51AF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612" y="1263509"/>
            <a:ext cx="1144756" cy="114475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CF258A11-C048-4B5E-B016-D2C6FD2D4F1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96" y="3468963"/>
            <a:ext cx="1144756" cy="114475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7103079-3E20-41DD-9812-E9A2CC3A2FF7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397512" y="3401791"/>
            <a:ext cx="1212538" cy="11447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221D59F-1DA9-435F-B8CB-F577D158B767}"/>
              </a:ext>
            </a:extLst>
          </p:cNvPr>
          <p:cNvSpPr txBox="1"/>
          <p:nvPr/>
        </p:nvSpPr>
        <p:spPr>
          <a:xfrm>
            <a:off x="3430165" y="3027942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EB9355"/>
                </a:solidFill>
              </a:rPr>
              <a:t>1/3</a:t>
            </a:r>
            <a:endParaRPr lang="ko-KR" altLang="en-US" dirty="0">
              <a:solidFill>
                <a:srgbClr val="EB9355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AF7C86-2A2A-42B2-8277-8737EE993CDF}"/>
              </a:ext>
            </a:extLst>
          </p:cNvPr>
          <p:cNvSpPr txBox="1"/>
          <p:nvPr/>
        </p:nvSpPr>
        <p:spPr>
          <a:xfrm>
            <a:off x="4290326" y="3836562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EB9355"/>
                </a:solidFill>
              </a:rPr>
              <a:t>1/3</a:t>
            </a:r>
            <a:endParaRPr lang="ko-KR" altLang="en-US" dirty="0">
              <a:solidFill>
                <a:srgbClr val="EB9355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050DE0-043B-4F72-A639-193415980357}"/>
              </a:ext>
            </a:extLst>
          </p:cNvPr>
          <p:cNvSpPr txBox="1"/>
          <p:nvPr/>
        </p:nvSpPr>
        <p:spPr>
          <a:xfrm>
            <a:off x="2575136" y="3856675"/>
            <a:ext cx="52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EB9355"/>
                </a:solidFill>
              </a:rPr>
              <a:t>1/3</a:t>
            </a:r>
            <a:endParaRPr lang="ko-KR" altLang="en-US" dirty="0">
              <a:solidFill>
                <a:srgbClr val="EB9355"/>
              </a:solidFill>
            </a:endParaRPr>
          </a:p>
        </p:txBody>
      </p:sp>
      <p:sp>
        <p:nvSpPr>
          <p:cNvPr id="27" name="제목 3">
            <a:extLst>
              <a:ext uri="{FF2B5EF4-FFF2-40B4-BE49-F238E27FC236}">
                <a16:creationId xmlns:a16="http://schemas.microsoft.com/office/drawing/2014/main" id="{9331B340-D349-4771-9EBE-E5157E106646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dirty="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하나의 출력 모듈에 여러 개의 입력 모듈 연결하기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66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5" grpId="0" animBg="1"/>
      <p:bldP spid="56" grpId="0" animBg="1"/>
      <p:bldP spid="57" grpId="0" animBg="1"/>
      <p:bldP spid="8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rPr>
              <a:t>네트워크 통신하기</a:t>
            </a:r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  <p:sp>
        <p:nvSpPr>
          <p:cNvPr id="36" name="제목 3">
            <a:extLst>
              <a:ext uri="{FF2B5EF4-FFF2-40B4-BE49-F238E27FC236}">
                <a16:creationId xmlns:a16="http://schemas.microsoft.com/office/drawing/2014/main" id="{BB63D167-BA0D-4A83-B831-553414B029B4}"/>
              </a:ext>
            </a:extLst>
          </p:cNvPr>
          <p:cNvSpPr txBox="1">
            <a:spLocks/>
          </p:cNvSpPr>
          <p:nvPr/>
        </p:nvSpPr>
        <p:spPr>
          <a:xfrm>
            <a:off x="692146" y="1173274"/>
            <a:ext cx="10836914" cy="102686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marR="0" lvl="0" indent="-457200" algn="l" defTabSz="914400" rtl="0" eaLnBrk="1" fontAlgn="auto" latinLnBrk="1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ko-KR" altLang="en-US" sz="2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네트워크 </a:t>
            </a:r>
            <a:r>
              <a:rPr lang="ko-KR" altLang="en-US" sz="2200" dirty="0" err="1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모듈끼리는</a:t>
            </a:r>
            <a:r>
              <a:rPr lang="ko-KR" altLang="en-US" sz="2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서로 원격 통신을 할 수 있습니다</a:t>
            </a:r>
            <a:r>
              <a:rPr lang="en-US" altLang="ko-KR" sz="2200" dirty="0"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kumimoji="0" lang="en-US" altLang="ko-KR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j-cs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9674478-314C-44EC-A0CA-37575C89A770}"/>
              </a:ext>
            </a:extLst>
          </p:cNvPr>
          <p:cNvGrpSpPr/>
          <p:nvPr/>
        </p:nvGrpSpPr>
        <p:grpSpPr>
          <a:xfrm>
            <a:off x="1661227" y="3437799"/>
            <a:ext cx="8054191" cy="1207803"/>
            <a:chOff x="2595159" y="3812267"/>
            <a:chExt cx="6311093" cy="946409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F222B6E7-99A9-4BC7-8C93-A19E29582EAF}"/>
                </a:ext>
              </a:extLst>
            </p:cNvPr>
            <p:cNvGrpSpPr/>
            <p:nvPr/>
          </p:nvGrpSpPr>
          <p:grpSpPr>
            <a:xfrm>
              <a:off x="6154757" y="3812267"/>
              <a:ext cx="2751495" cy="927464"/>
              <a:chOff x="4171018" y="2629251"/>
              <a:chExt cx="2751495" cy="927464"/>
            </a:xfrm>
          </p:grpSpPr>
          <p:pic>
            <p:nvPicPr>
              <p:cNvPr id="20" name="그림 19">
                <a:extLst>
                  <a:ext uri="{FF2B5EF4-FFF2-40B4-BE49-F238E27FC236}">
                    <a16:creationId xmlns:a16="http://schemas.microsoft.com/office/drawing/2014/main" id="{DD36BBC8-6A27-4D22-A534-8014B770A5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5553691" y="2187892"/>
                <a:ext cx="927464" cy="1810181"/>
              </a:xfrm>
              <a:prstGeom prst="rect">
                <a:avLst/>
              </a:prstGeom>
            </p:spPr>
          </p:pic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1A0F38D2-48CC-445F-AEA4-E914A88224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4177012" y="2631986"/>
                <a:ext cx="899096" cy="911084"/>
              </a:xfrm>
              <a:prstGeom prst="rect">
                <a:avLst/>
              </a:prstGeom>
            </p:spPr>
          </p:pic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A51353F2-38D0-458E-9BEF-E1068C1F11AF}"/>
                </a:ext>
              </a:extLst>
            </p:cNvPr>
            <p:cNvGrpSpPr/>
            <p:nvPr/>
          </p:nvGrpSpPr>
          <p:grpSpPr>
            <a:xfrm rot="10800000">
              <a:off x="2595159" y="3831212"/>
              <a:ext cx="2729670" cy="927464"/>
              <a:chOff x="1421747" y="2598886"/>
              <a:chExt cx="2729670" cy="927464"/>
            </a:xfrm>
          </p:grpSpPr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4761D724-6B08-4D73-BE2B-C37C8091C9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2782595" y="2157527"/>
                <a:ext cx="927464" cy="1810181"/>
              </a:xfrm>
              <a:prstGeom prst="rect">
                <a:avLst/>
              </a:prstGeom>
            </p:spPr>
          </p:pic>
          <p:pic>
            <p:nvPicPr>
              <p:cNvPr id="25" name="그림 24">
                <a:extLst>
                  <a:ext uri="{FF2B5EF4-FFF2-40B4-BE49-F238E27FC236}">
                    <a16:creationId xmlns:a16="http://schemas.microsoft.com/office/drawing/2014/main" id="{7D44EBFB-D856-4BC7-AD14-FEDB3D78A3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6200000">
                <a:off x="1427741" y="2598886"/>
                <a:ext cx="899096" cy="911084"/>
              </a:xfrm>
              <a:prstGeom prst="rect">
                <a:avLst/>
              </a:prstGeom>
            </p:spPr>
          </p:pic>
        </p:grpSp>
        <p:sp>
          <p:nvSpPr>
            <p:cNvPr id="28" name="화살표: 오른쪽 27">
              <a:extLst>
                <a:ext uri="{FF2B5EF4-FFF2-40B4-BE49-F238E27FC236}">
                  <a16:creationId xmlns:a16="http://schemas.microsoft.com/office/drawing/2014/main" id="{0E628A85-3F53-4DB7-A6D9-A3D417B02B95}"/>
                </a:ext>
              </a:extLst>
            </p:cNvPr>
            <p:cNvSpPr/>
            <p:nvPr/>
          </p:nvSpPr>
          <p:spPr>
            <a:xfrm>
              <a:off x="5410011" y="4153118"/>
              <a:ext cx="208571" cy="242888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화살표: 오른쪽 28">
              <a:extLst>
                <a:ext uri="{FF2B5EF4-FFF2-40B4-BE49-F238E27FC236}">
                  <a16:creationId xmlns:a16="http://schemas.microsoft.com/office/drawing/2014/main" id="{DF566762-90AC-4905-B29C-6273D6FDD881}"/>
                </a:ext>
              </a:extLst>
            </p:cNvPr>
            <p:cNvSpPr/>
            <p:nvPr/>
          </p:nvSpPr>
          <p:spPr>
            <a:xfrm rot="10800000">
              <a:off x="5347643" y="4147863"/>
              <a:ext cx="208571" cy="242888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화살표: 오른쪽 29">
              <a:extLst>
                <a:ext uri="{FF2B5EF4-FFF2-40B4-BE49-F238E27FC236}">
                  <a16:creationId xmlns:a16="http://schemas.microsoft.com/office/drawing/2014/main" id="{0C002611-65DC-4718-A4E5-C65530DFC8BB}"/>
                </a:ext>
              </a:extLst>
            </p:cNvPr>
            <p:cNvSpPr/>
            <p:nvPr/>
          </p:nvSpPr>
          <p:spPr>
            <a:xfrm>
              <a:off x="5915350" y="4164253"/>
              <a:ext cx="208571" cy="242888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화살표: 오른쪽 30">
              <a:extLst>
                <a:ext uri="{FF2B5EF4-FFF2-40B4-BE49-F238E27FC236}">
                  <a16:creationId xmlns:a16="http://schemas.microsoft.com/office/drawing/2014/main" id="{04702074-0372-4D93-B941-7539E8187305}"/>
                </a:ext>
              </a:extLst>
            </p:cNvPr>
            <p:cNvSpPr/>
            <p:nvPr/>
          </p:nvSpPr>
          <p:spPr>
            <a:xfrm rot="10800000">
              <a:off x="5852982" y="4158998"/>
              <a:ext cx="208571" cy="242888"/>
            </a:xfrm>
            <a:prstGeom prst="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4" name="타원 33">
            <a:extLst>
              <a:ext uri="{FF2B5EF4-FFF2-40B4-BE49-F238E27FC236}">
                <a16:creationId xmlns:a16="http://schemas.microsoft.com/office/drawing/2014/main" id="{C00EDC8C-4E4E-4EB0-9893-55F9AF2E0FEA}"/>
              </a:ext>
            </a:extLst>
          </p:cNvPr>
          <p:cNvSpPr/>
          <p:nvPr/>
        </p:nvSpPr>
        <p:spPr>
          <a:xfrm>
            <a:off x="4158598" y="4394855"/>
            <a:ext cx="65720" cy="63633"/>
          </a:xfrm>
          <a:prstGeom prst="ellipse">
            <a:avLst/>
          </a:prstGeom>
          <a:solidFill>
            <a:srgbClr val="97B7F3"/>
          </a:solidFill>
          <a:ln>
            <a:noFill/>
          </a:ln>
          <a:effectLst>
            <a:glow rad="228600">
              <a:srgbClr val="94B8FA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F3E2D8E-FF86-4B82-9429-C07F56CB0A5E}"/>
              </a:ext>
            </a:extLst>
          </p:cNvPr>
          <p:cNvSpPr/>
          <p:nvPr/>
        </p:nvSpPr>
        <p:spPr>
          <a:xfrm>
            <a:off x="7125002" y="3617258"/>
            <a:ext cx="65720" cy="63633"/>
          </a:xfrm>
          <a:prstGeom prst="ellipse">
            <a:avLst/>
          </a:prstGeom>
          <a:solidFill>
            <a:srgbClr val="97B7F3"/>
          </a:solidFill>
          <a:ln>
            <a:noFill/>
          </a:ln>
          <a:effectLst>
            <a:glow rad="228600">
              <a:srgbClr val="94B8FA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B428D9E7-877E-4E04-A56D-079EBA7B3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7627" y="4960075"/>
            <a:ext cx="1276350" cy="1666875"/>
          </a:xfrm>
          <a:prstGeom prst="rect">
            <a:avLst/>
          </a:prstGeom>
        </p:spPr>
      </p:pic>
      <p:grpSp>
        <p:nvGrpSpPr>
          <p:cNvPr id="39" name="그룹 38">
            <a:extLst>
              <a:ext uri="{FF2B5EF4-FFF2-40B4-BE49-F238E27FC236}">
                <a16:creationId xmlns:a16="http://schemas.microsoft.com/office/drawing/2014/main" id="{B2A76E97-CDAF-419E-8E45-2FE98438224A}"/>
              </a:ext>
            </a:extLst>
          </p:cNvPr>
          <p:cNvGrpSpPr/>
          <p:nvPr/>
        </p:nvGrpSpPr>
        <p:grpSpPr>
          <a:xfrm>
            <a:off x="6680566" y="5208380"/>
            <a:ext cx="3244855" cy="1192452"/>
            <a:chOff x="2606724" y="4284336"/>
            <a:chExt cx="3766782" cy="2020191"/>
          </a:xfrm>
        </p:grpSpPr>
        <p:sp>
          <p:nvSpPr>
            <p:cNvPr id="40" name="말풍선: 모서리가 둥근 사각형 6">
              <a:extLst>
                <a:ext uri="{FF2B5EF4-FFF2-40B4-BE49-F238E27FC236}">
                  <a16:creationId xmlns:a16="http://schemas.microsoft.com/office/drawing/2014/main" id="{5026FA16-FC28-4C64-8C57-06D41B5B2DC3}"/>
                </a:ext>
              </a:extLst>
            </p:cNvPr>
            <p:cNvSpPr/>
            <p:nvPr/>
          </p:nvSpPr>
          <p:spPr>
            <a:xfrm>
              <a:off x="2606724" y="4284336"/>
              <a:ext cx="3766782" cy="2020191"/>
            </a:xfrm>
            <a:prstGeom prst="wedgeRoundRectCallout">
              <a:avLst>
                <a:gd name="adj1" fmla="val 63597"/>
                <a:gd name="adj2" fmla="val 23901"/>
                <a:gd name="adj3" fmla="val 16667"/>
              </a:avLst>
            </a:prstGeom>
            <a:noFill/>
            <a:ln w="28575">
              <a:solidFill>
                <a:srgbClr val="45D6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90A7A48-B744-4F8C-94F0-33411DF3CF07}"/>
                </a:ext>
              </a:extLst>
            </p:cNvPr>
            <p:cNvSpPr txBox="1"/>
            <p:nvPr/>
          </p:nvSpPr>
          <p:spPr>
            <a:xfrm>
              <a:off x="2718459" y="4318019"/>
              <a:ext cx="3512836" cy="195282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네트워크 모듈끼리 붙였다가 </a:t>
              </a:r>
              <a:endParaRPr lang="en-US" altLang="ko-KR" sz="16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양쪽 </a:t>
              </a:r>
              <a:r>
                <a:rPr lang="en-US" altLang="ko-KR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LED</a:t>
              </a:r>
              <a:r>
                <a:rPr lang="ko-KR" altLang="en-US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깜빡임이 멈추면 </a:t>
              </a:r>
              <a:endParaRPr lang="en-US" altLang="ko-KR" sz="16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sz="1600" b="1" dirty="0" err="1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페어링</a:t>
              </a:r>
              <a:r>
                <a:rPr lang="ko-KR" altLang="en-US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 완료</a:t>
              </a:r>
              <a:r>
                <a:rPr lang="en-US" altLang="ko-KR" sz="1600" b="1" dirty="0">
                  <a:latin typeface="나눔스퀘어 ExtraBold" panose="020B0600000101010101" pitchFamily="50" charset="-127"/>
                  <a:ea typeface="나눔스퀘어 ExtraBold" panose="020B0600000101010101" pitchFamily="50" charset="-127"/>
                </a:rPr>
                <a:t>!</a:t>
              </a:r>
            </a:p>
          </p:txBody>
        </p:sp>
      </p:grpSp>
      <p:pic>
        <p:nvPicPr>
          <p:cNvPr id="1026" name="Picture 2" descr="ìì´íì´ì ëí ì´ë¯¸ì§ ê²ìê²°ê³¼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739" y="2844301"/>
            <a:ext cx="713442" cy="48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ìì´íì´ì ëí ì´ë¯¸ì§ ê²ìê²°ê³¼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5477" y="2828470"/>
            <a:ext cx="713442" cy="489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구부러진 연결선 7"/>
          <p:cNvCxnSpPr/>
          <p:nvPr/>
        </p:nvCxnSpPr>
        <p:spPr>
          <a:xfrm rot="5400000" flipH="1" flipV="1">
            <a:off x="5674382" y="1625450"/>
            <a:ext cx="35" cy="2221872"/>
          </a:xfrm>
          <a:prstGeom prst="curvedConnector3">
            <a:avLst>
              <a:gd name="adj1" fmla="val 1515645714"/>
            </a:avLst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580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>
            <a:extLst>
              <a:ext uri="{FF2B5EF4-FFF2-40B4-BE49-F238E27FC236}">
                <a16:creationId xmlns:a16="http://schemas.microsoft.com/office/drawing/2014/main" id="{D1906A8E-F172-4034-B844-9D0BED4BA6E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385" y="2871663"/>
            <a:ext cx="1172063" cy="1172063"/>
          </a:xfrm>
          <a:prstGeom prst="rect">
            <a:avLst/>
          </a:prstGeom>
        </p:spPr>
      </p:pic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  <p:sp>
        <p:nvSpPr>
          <p:cNvPr id="8" name="제목 3">
            <a:extLst>
              <a:ext uri="{FF2B5EF4-FFF2-40B4-BE49-F238E27FC236}">
                <a16:creationId xmlns:a16="http://schemas.microsoft.com/office/drawing/2014/main" id="{A700AD12-4D6B-4D1E-B477-C46603C6A17E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Misson1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D9D752-A195-408B-94A2-92E740A63C9B}"/>
              </a:ext>
            </a:extLst>
          </p:cNvPr>
          <p:cNvSpPr txBox="1"/>
          <p:nvPr/>
        </p:nvSpPr>
        <p:spPr>
          <a:xfrm>
            <a:off x="775771" y="1399920"/>
            <a:ext cx="107532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C9D4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원격 호루라기를 만들어 봅시다</a:t>
            </a:r>
            <a:r>
              <a:rPr lang="en-US" altLang="ko-KR" sz="2800" b="1" dirty="0">
                <a:solidFill>
                  <a:srgbClr val="26C9D4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26C9D4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26C9D4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네트워크 모듈을 페어링하고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양쪽 모듈에 각각 버튼과 스피커를 연결해 보세요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!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FEB237-69B7-45A9-9425-9396993ACBC4}"/>
              </a:ext>
            </a:extLst>
          </p:cNvPr>
          <p:cNvSpPr/>
          <p:nvPr/>
        </p:nvSpPr>
        <p:spPr>
          <a:xfrm>
            <a:off x="810224" y="2097618"/>
            <a:ext cx="10753288" cy="628011"/>
          </a:xfrm>
          <a:prstGeom prst="rect">
            <a:avLst/>
          </a:prstGeom>
          <a:solidFill>
            <a:srgbClr val="46D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/>
              <a:t>Hint!</a:t>
            </a:r>
            <a:endParaRPr lang="ko-KR" altLang="en-US" sz="2400" b="1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F8F9287-1E30-4609-B336-418621164FB6}"/>
              </a:ext>
            </a:extLst>
          </p:cNvPr>
          <p:cNvGrpSpPr/>
          <p:nvPr/>
        </p:nvGrpSpPr>
        <p:grpSpPr>
          <a:xfrm>
            <a:off x="3279755" y="2881787"/>
            <a:ext cx="5745319" cy="3499161"/>
            <a:chOff x="3043876" y="2145713"/>
            <a:chExt cx="5745319" cy="3499161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0CA6D35E-407A-47A3-AF0A-99E2C6C2B7A3}"/>
                </a:ext>
              </a:extLst>
            </p:cNvPr>
            <p:cNvGrpSpPr/>
            <p:nvPr/>
          </p:nvGrpSpPr>
          <p:grpSpPr>
            <a:xfrm>
              <a:off x="3043876" y="2145713"/>
              <a:ext cx="5745319" cy="3499161"/>
              <a:chOff x="2130161" y="2145713"/>
              <a:chExt cx="5745319" cy="3499161"/>
            </a:xfrm>
          </p:grpSpPr>
          <p:pic>
            <p:nvPicPr>
              <p:cNvPr id="27" name="그림 26">
                <a:extLst>
                  <a:ext uri="{FF2B5EF4-FFF2-40B4-BE49-F238E27FC236}">
                    <a16:creationId xmlns:a16="http://schemas.microsoft.com/office/drawing/2014/main" id="{6E6677EB-93AD-4856-AE78-1879F0211B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3311351" y="4480292"/>
                <a:ext cx="1147424" cy="1147424"/>
              </a:xfrm>
              <a:prstGeom prst="rect">
                <a:avLst/>
              </a:prstGeom>
            </p:spPr>
          </p:pic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5999C374-2FDD-45B8-99F4-94A3E3CCCB8D}"/>
                  </a:ext>
                </a:extLst>
              </p:cNvPr>
              <p:cNvGrpSpPr/>
              <p:nvPr/>
            </p:nvGrpSpPr>
            <p:grpSpPr>
              <a:xfrm>
                <a:off x="2130161" y="2145713"/>
                <a:ext cx="5745319" cy="3499161"/>
                <a:chOff x="3488838" y="2915905"/>
                <a:chExt cx="4501909" cy="2741868"/>
              </a:xfrm>
            </p:grpSpPr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42297453-5E1C-4BA7-8A7F-5354829A5B18}"/>
                    </a:ext>
                  </a:extLst>
                </p:cNvPr>
                <p:cNvGrpSpPr/>
                <p:nvPr/>
              </p:nvGrpSpPr>
              <p:grpSpPr>
                <a:xfrm>
                  <a:off x="6154757" y="2915905"/>
                  <a:ext cx="1835990" cy="1826933"/>
                  <a:chOff x="4171018" y="1732889"/>
                  <a:chExt cx="1835990" cy="1826933"/>
                </a:xfrm>
              </p:grpSpPr>
              <p:pic>
                <p:nvPicPr>
                  <p:cNvPr id="38" name="그림 37">
                    <a:extLst>
                      <a:ext uri="{FF2B5EF4-FFF2-40B4-BE49-F238E27FC236}">
                        <a16:creationId xmlns:a16="http://schemas.microsoft.com/office/drawing/2014/main" id="{BB5DBBEB-ADD5-4BDA-9AE2-B93A30AF37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79544" y="1732889"/>
                    <a:ext cx="927464" cy="1810181"/>
                  </a:xfrm>
                  <a:prstGeom prst="rect">
                    <a:avLst/>
                  </a:prstGeom>
                </p:spPr>
              </p:pic>
              <p:pic>
                <p:nvPicPr>
                  <p:cNvPr id="39" name="그림 38">
                    <a:extLst>
                      <a:ext uri="{FF2B5EF4-FFF2-40B4-BE49-F238E27FC236}">
                        <a16:creationId xmlns:a16="http://schemas.microsoft.com/office/drawing/2014/main" id="{EB82CB32-D330-4CC2-BDF4-E65E330617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4177012" y="2654732"/>
                    <a:ext cx="899096" cy="91108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B9338938-D081-4738-A6D9-64060CAB5A6B}"/>
                    </a:ext>
                  </a:extLst>
                </p:cNvPr>
                <p:cNvGrpSpPr/>
                <p:nvPr/>
              </p:nvGrpSpPr>
              <p:grpSpPr>
                <a:xfrm rot="10800000">
                  <a:off x="3488838" y="3842213"/>
                  <a:ext cx="1835990" cy="1815560"/>
                  <a:chOff x="1421748" y="1699789"/>
                  <a:chExt cx="1835990" cy="1815560"/>
                </a:xfrm>
              </p:grpSpPr>
              <p:pic>
                <p:nvPicPr>
                  <p:cNvPr id="35" name="그림 34">
                    <a:extLst>
                      <a:ext uri="{FF2B5EF4-FFF2-40B4-BE49-F238E27FC236}">
                        <a16:creationId xmlns:a16="http://schemas.microsoft.com/office/drawing/2014/main" id="{07567D26-70D2-48DD-93E7-920B582558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30274" y="1699789"/>
                    <a:ext cx="927464" cy="1810181"/>
                  </a:xfrm>
                  <a:prstGeom prst="rect">
                    <a:avLst/>
                  </a:prstGeom>
                </p:spPr>
              </p:pic>
              <p:pic>
                <p:nvPicPr>
                  <p:cNvPr id="36" name="그림 35">
                    <a:extLst>
                      <a:ext uri="{FF2B5EF4-FFF2-40B4-BE49-F238E27FC236}">
                        <a16:creationId xmlns:a16="http://schemas.microsoft.com/office/drawing/2014/main" id="{4F4C29EC-DFE9-43FA-A0CA-05AAB1EE3B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1427742" y="2610259"/>
                    <a:ext cx="899096" cy="911084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1" name="화살표: 오른쪽 30">
                  <a:extLst>
                    <a:ext uri="{FF2B5EF4-FFF2-40B4-BE49-F238E27FC236}">
                      <a16:creationId xmlns:a16="http://schemas.microsoft.com/office/drawing/2014/main" id="{0DCC422F-DAF7-4904-9914-EBFE9284DB14}"/>
                    </a:ext>
                  </a:extLst>
                </p:cNvPr>
                <p:cNvSpPr/>
                <p:nvPr/>
              </p:nvSpPr>
              <p:spPr>
                <a:xfrm>
                  <a:off x="5410011" y="4153118"/>
                  <a:ext cx="208571" cy="242888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화살표: 오른쪽 31">
                  <a:extLst>
                    <a:ext uri="{FF2B5EF4-FFF2-40B4-BE49-F238E27FC236}">
                      <a16:creationId xmlns:a16="http://schemas.microsoft.com/office/drawing/2014/main" id="{EAD86AB6-EBB4-4F67-9DED-DAEE1A6E9DC5}"/>
                    </a:ext>
                  </a:extLst>
                </p:cNvPr>
                <p:cNvSpPr/>
                <p:nvPr/>
              </p:nvSpPr>
              <p:spPr>
                <a:xfrm rot="10800000">
                  <a:off x="5347643" y="4147863"/>
                  <a:ext cx="208571" cy="242888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화살표: 오른쪽 32">
                  <a:extLst>
                    <a:ext uri="{FF2B5EF4-FFF2-40B4-BE49-F238E27FC236}">
                      <a16:creationId xmlns:a16="http://schemas.microsoft.com/office/drawing/2014/main" id="{F59F58E4-4ACD-4DA5-8BF7-25D6C5C9398A}"/>
                    </a:ext>
                  </a:extLst>
                </p:cNvPr>
                <p:cNvSpPr/>
                <p:nvPr/>
              </p:nvSpPr>
              <p:spPr>
                <a:xfrm>
                  <a:off x="5915350" y="4164253"/>
                  <a:ext cx="208571" cy="242888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화살표: 오른쪽 33">
                  <a:extLst>
                    <a:ext uri="{FF2B5EF4-FFF2-40B4-BE49-F238E27FC236}">
                      <a16:creationId xmlns:a16="http://schemas.microsoft.com/office/drawing/2014/main" id="{EE77EA66-15A2-4123-BDFC-1071F51183E2}"/>
                    </a:ext>
                  </a:extLst>
                </p:cNvPr>
                <p:cNvSpPr/>
                <p:nvPr/>
              </p:nvSpPr>
              <p:spPr>
                <a:xfrm rot="10800000">
                  <a:off x="5852982" y="4158998"/>
                  <a:ext cx="208571" cy="242888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B2C5C8B-FEF1-42B2-9793-DFDA7BF76C4A}"/>
                </a:ext>
              </a:extLst>
            </p:cNvPr>
            <p:cNvSpPr/>
            <p:nvPr/>
          </p:nvSpPr>
          <p:spPr>
            <a:xfrm>
              <a:off x="4400737" y="4246702"/>
              <a:ext cx="65720" cy="63633"/>
            </a:xfrm>
            <a:prstGeom prst="ellipse">
              <a:avLst/>
            </a:prstGeom>
            <a:solidFill>
              <a:srgbClr val="97B7F3"/>
            </a:solidFill>
            <a:ln>
              <a:noFill/>
            </a:ln>
            <a:effectLst>
              <a:glow rad="228600">
                <a:srgbClr val="94B8FA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BAD11849-6BA4-46AC-8001-0330A70AEB35}"/>
                </a:ext>
              </a:extLst>
            </p:cNvPr>
            <p:cNvSpPr/>
            <p:nvPr/>
          </p:nvSpPr>
          <p:spPr>
            <a:xfrm>
              <a:off x="7367141" y="3498133"/>
              <a:ext cx="65720" cy="63633"/>
            </a:xfrm>
            <a:prstGeom prst="ellipse">
              <a:avLst/>
            </a:prstGeom>
            <a:solidFill>
              <a:srgbClr val="97B7F3"/>
            </a:solidFill>
            <a:ln>
              <a:noFill/>
            </a:ln>
            <a:effectLst>
              <a:glow rad="228600">
                <a:srgbClr val="94B8FA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545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  <p:sp>
        <p:nvSpPr>
          <p:cNvPr id="8" name="제목 3">
            <a:extLst>
              <a:ext uri="{FF2B5EF4-FFF2-40B4-BE49-F238E27FC236}">
                <a16:creationId xmlns:a16="http://schemas.microsoft.com/office/drawing/2014/main" id="{A700AD12-4D6B-4D1E-B477-C46603C6A17E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Misson2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D9D752-A195-408B-94A2-92E740A63C9B}"/>
              </a:ext>
            </a:extLst>
          </p:cNvPr>
          <p:cNvSpPr txBox="1"/>
          <p:nvPr/>
        </p:nvSpPr>
        <p:spPr>
          <a:xfrm>
            <a:off x="775771" y="1399920"/>
            <a:ext cx="107532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C9D4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밝기를 조절할 수 있는 원격 제어 손전등을 만들어 봅시다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26C9D4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!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26C9D4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네트워크 모듈을 페어링하고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양쪽 모듈에 각각 버튼과 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LED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를 붙여 보세요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!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FEB237-69B7-45A9-9425-9396993ACBC4}"/>
              </a:ext>
            </a:extLst>
          </p:cNvPr>
          <p:cNvSpPr/>
          <p:nvPr/>
        </p:nvSpPr>
        <p:spPr>
          <a:xfrm>
            <a:off x="810224" y="2069069"/>
            <a:ext cx="10753288" cy="628011"/>
          </a:xfrm>
          <a:prstGeom prst="rect">
            <a:avLst/>
          </a:prstGeom>
          <a:solidFill>
            <a:srgbClr val="46D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/>
              <a:t>Hint!</a:t>
            </a:r>
            <a:endParaRPr lang="ko-KR" altLang="en-US" sz="2400" b="1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28CDEE0-BA1C-4EFC-BD0D-08EDD7D5624C}"/>
              </a:ext>
            </a:extLst>
          </p:cNvPr>
          <p:cNvGrpSpPr/>
          <p:nvPr/>
        </p:nvGrpSpPr>
        <p:grpSpPr>
          <a:xfrm>
            <a:off x="3279755" y="2860100"/>
            <a:ext cx="5745319" cy="3520849"/>
            <a:chOff x="3279755" y="2860100"/>
            <a:chExt cx="5745319" cy="3520849"/>
          </a:xfrm>
        </p:grpSpPr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E8895104-68DD-497C-BD6E-A437248279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4460116" y="5199208"/>
              <a:ext cx="1147424" cy="1147424"/>
            </a:xfrm>
            <a:prstGeom prst="rect">
              <a:avLst/>
            </a:prstGeom>
          </p:spPr>
        </p:pic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F8F9287-1E30-4609-B336-418621164FB6}"/>
                </a:ext>
              </a:extLst>
            </p:cNvPr>
            <p:cNvGrpSpPr/>
            <p:nvPr/>
          </p:nvGrpSpPr>
          <p:grpSpPr>
            <a:xfrm>
              <a:off x="3279755" y="2860100"/>
              <a:ext cx="5745319" cy="3520849"/>
              <a:chOff x="3043876" y="2124026"/>
              <a:chExt cx="5745319" cy="3520849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5999C374-2FDD-45B8-99F4-94A3E3CCCB8D}"/>
                  </a:ext>
                </a:extLst>
              </p:cNvPr>
              <p:cNvGrpSpPr/>
              <p:nvPr/>
            </p:nvGrpSpPr>
            <p:grpSpPr>
              <a:xfrm>
                <a:off x="3043876" y="2124026"/>
                <a:ext cx="5745319" cy="3520849"/>
                <a:chOff x="3488838" y="2898911"/>
                <a:chExt cx="4501909" cy="2758862"/>
              </a:xfrm>
            </p:grpSpPr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42297453-5E1C-4BA7-8A7F-5354829A5B18}"/>
                    </a:ext>
                  </a:extLst>
                </p:cNvPr>
                <p:cNvGrpSpPr/>
                <p:nvPr/>
              </p:nvGrpSpPr>
              <p:grpSpPr>
                <a:xfrm>
                  <a:off x="6135820" y="2898911"/>
                  <a:ext cx="1854927" cy="1843927"/>
                  <a:chOff x="4152081" y="1715895"/>
                  <a:chExt cx="1854927" cy="1843927"/>
                </a:xfrm>
              </p:grpSpPr>
              <p:pic>
                <p:nvPicPr>
                  <p:cNvPr id="37" name="그림 36">
                    <a:extLst>
                      <a:ext uri="{FF2B5EF4-FFF2-40B4-BE49-F238E27FC236}">
                        <a16:creationId xmlns:a16="http://schemas.microsoft.com/office/drawing/2014/main" id="{06D9DE30-B26B-4E7E-BC24-FF6D280868C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152081" y="1715895"/>
                    <a:ext cx="927464" cy="927464"/>
                  </a:xfrm>
                  <a:prstGeom prst="rect">
                    <a:avLst/>
                  </a:prstGeom>
                </p:spPr>
              </p:pic>
              <p:pic>
                <p:nvPicPr>
                  <p:cNvPr id="38" name="그림 37">
                    <a:extLst>
                      <a:ext uri="{FF2B5EF4-FFF2-40B4-BE49-F238E27FC236}">
                        <a16:creationId xmlns:a16="http://schemas.microsoft.com/office/drawing/2014/main" id="{BB5DBBEB-ADD5-4BDA-9AE2-B93A30AF37D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079544" y="1732889"/>
                    <a:ext cx="927464" cy="1810181"/>
                  </a:xfrm>
                  <a:prstGeom prst="rect">
                    <a:avLst/>
                  </a:prstGeom>
                </p:spPr>
              </p:pic>
              <p:pic>
                <p:nvPicPr>
                  <p:cNvPr id="39" name="그림 38">
                    <a:extLst>
                      <a:ext uri="{FF2B5EF4-FFF2-40B4-BE49-F238E27FC236}">
                        <a16:creationId xmlns:a16="http://schemas.microsoft.com/office/drawing/2014/main" id="{EB82CB32-D330-4CC2-BDF4-E65E330617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4177012" y="2654732"/>
                    <a:ext cx="899096" cy="91108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B9338938-D081-4738-A6D9-64060CAB5A6B}"/>
                    </a:ext>
                  </a:extLst>
                </p:cNvPr>
                <p:cNvGrpSpPr/>
                <p:nvPr/>
              </p:nvGrpSpPr>
              <p:grpSpPr>
                <a:xfrm rot="10800000">
                  <a:off x="3488838" y="3842213"/>
                  <a:ext cx="1835990" cy="1815560"/>
                  <a:chOff x="1421748" y="1699789"/>
                  <a:chExt cx="1835990" cy="1815560"/>
                </a:xfrm>
              </p:grpSpPr>
              <p:pic>
                <p:nvPicPr>
                  <p:cNvPr id="35" name="그림 34">
                    <a:extLst>
                      <a:ext uri="{FF2B5EF4-FFF2-40B4-BE49-F238E27FC236}">
                        <a16:creationId xmlns:a16="http://schemas.microsoft.com/office/drawing/2014/main" id="{07567D26-70D2-48DD-93E7-920B582558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30274" y="1699789"/>
                    <a:ext cx="927464" cy="1810181"/>
                  </a:xfrm>
                  <a:prstGeom prst="rect">
                    <a:avLst/>
                  </a:prstGeom>
                </p:spPr>
              </p:pic>
              <p:pic>
                <p:nvPicPr>
                  <p:cNvPr id="36" name="그림 35">
                    <a:extLst>
                      <a:ext uri="{FF2B5EF4-FFF2-40B4-BE49-F238E27FC236}">
                        <a16:creationId xmlns:a16="http://schemas.microsoft.com/office/drawing/2014/main" id="{4F4C29EC-DFE9-43FA-A0CA-05AAB1EE3B1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 cstate="hq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1427742" y="2610259"/>
                    <a:ext cx="899096" cy="911084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1" name="화살표: 오른쪽 30">
                  <a:extLst>
                    <a:ext uri="{FF2B5EF4-FFF2-40B4-BE49-F238E27FC236}">
                      <a16:creationId xmlns:a16="http://schemas.microsoft.com/office/drawing/2014/main" id="{0DCC422F-DAF7-4904-9914-EBFE9284DB14}"/>
                    </a:ext>
                  </a:extLst>
                </p:cNvPr>
                <p:cNvSpPr/>
                <p:nvPr/>
              </p:nvSpPr>
              <p:spPr>
                <a:xfrm>
                  <a:off x="5410011" y="4153118"/>
                  <a:ext cx="208571" cy="242888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2" name="화살표: 오른쪽 31">
                  <a:extLst>
                    <a:ext uri="{FF2B5EF4-FFF2-40B4-BE49-F238E27FC236}">
                      <a16:creationId xmlns:a16="http://schemas.microsoft.com/office/drawing/2014/main" id="{EAD86AB6-EBB4-4F67-9DED-DAEE1A6E9DC5}"/>
                    </a:ext>
                  </a:extLst>
                </p:cNvPr>
                <p:cNvSpPr/>
                <p:nvPr/>
              </p:nvSpPr>
              <p:spPr>
                <a:xfrm rot="10800000">
                  <a:off x="5347643" y="4147863"/>
                  <a:ext cx="208571" cy="242888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3" name="화살표: 오른쪽 32">
                  <a:extLst>
                    <a:ext uri="{FF2B5EF4-FFF2-40B4-BE49-F238E27FC236}">
                      <a16:creationId xmlns:a16="http://schemas.microsoft.com/office/drawing/2014/main" id="{F59F58E4-4ACD-4DA5-8BF7-25D6C5C9398A}"/>
                    </a:ext>
                  </a:extLst>
                </p:cNvPr>
                <p:cNvSpPr/>
                <p:nvPr/>
              </p:nvSpPr>
              <p:spPr>
                <a:xfrm>
                  <a:off x="5915350" y="4164253"/>
                  <a:ext cx="208571" cy="242888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4" name="화살표: 오른쪽 33">
                  <a:extLst>
                    <a:ext uri="{FF2B5EF4-FFF2-40B4-BE49-F238E27FC236}">
                      <a16:creationId xmlns:a16="http://schemas.microsoft.com/office/drawing/2014/main" id="{EE77EA66-15A2-4123-BDFC-1071F51183E2}"/>
                    </a:ext>
                  </a:extLst>
                </p:cNvPr>
                <p:cNvSpPr/>
                <p:nvPr/>
              </p:nvSpPr>
              <p:spPr>
                <a:xfrm rot="10800000">
                  <a:off x="5852982" y="4158998"/>
                  <a:ext cx="208571" cy="242888"/>
                </a:xfrm>
                <a:prstGeom prst="rightArrow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1B2C5C8B-FEF1-42B2-9793-DFDA7BF76C4A}"/>
                  </a:ext>
                </a:extLst>
              </p:cNvPr>
              <p:cNvSpPr/>
              <p:nvPr/>
            </p:nvSpPr>
            <p:spPr>
              <a:xfrm>
                <a:off x="4400737" y="4246702"/>
                <a:ext cx="65720" cy="63633"/>
              </a:xfrm>
              <a:prstGeom prst="ellipse">
                <a:avLst/>
              </a:prstGeom>
              <a:solidFill>
                <a:srgbClr val="97B7F3"/>
              </a:solidFill>
              <a:ln>
                <a:noFill/>
              </a:ln>
              <a:effectLst>
                <a:glow rad="228600">
                  <a:srgbClr val="94B8FA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BAD11849-6BA4-46AC-8001-0330A70AEB35}"/>
                  </a:ext>
                </a:extLst>
              </p:cNvPr>
              <p:cNvSpPr/>
              <p:nvPr/>
            </p:nvSpPr>
            <p:spPr>
              <a:xfrm>
                <a:off x="7367141" y="3498133"/>
                <a:ext cx="65720" cy="63633"/>
              </a:xfrm>
              <a:prstGeom prst="ellipse">
                <a:avLst/>
              </a:prstGeom>
              <a:solidFill>
                <a:srgbClr val="97B7F3"/>
              </a:solidFill>
              <a:ln>
                <a:noFill/>
              </a:ln>
              <a:effectLst>
                <a:glow rad="228600">
                  <a:srgbClr val="94B8FA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2196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459490EF-E3FA-461B-B6DF-0255B2CC6F6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990" y="2880269"/>
            <a:ext cx="1164240" cy="1164240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D9054758-E748-4682-AE16-4ABD5DB7302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479" y="5211374"/>
            <a:ext cx="1231568" cy="1162722"/>
          </a:xfrm>
          <a:prstGeom prst="rect">
            <a:avLst/>
          </a:prstGeom>
        </p:spPr>
      </p:pic>
      <p:sp>
        <p:nvSpPr>
          <p:cNvPr id="4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  <p:sp>
        <p:nvSpPr>
          <p:cNvPr id="8" name="제목 3">
            <a:extLst>
              <a:ext uri="{FF2B5EF4-FFF2-40B4-BE49-F238E27FC236}">
                <a16:creationId xmlns:a16="http://schemas.microsoft.com/office/drawing/2014/main" id="{A700AD12-4D6B-4D1E-B477-C46603C6A17E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US" altLang="ko-KR" sz="2800" dirty="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Misson3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j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D9D752-A195-408B-94A2-92E740A63C9B}"/>
              </a:ext>
            </a:extLst>
          </p:cNvPr>
          <p:cNvSpPr txBox="1"/>
          <p:nvPr/>
        </p:nvSpPr>
        <p:spPr>
          <a:xfrm>
            <a:off x="775771" y="1399920"/>
            <a:ext cx="107532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6C9D4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멀리서도 알 수 있는 원격 방범 장치를 만들어 봅시다</a:t>
            </a:r>
            <a:r>
              <a:rPr lang="en-US" altLang="ko-KR" sz="2800" b="1" dirty="0">
                <a:solidFill>
                  <a:srgbClr val="26C9D4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!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26C9D4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26C9D4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네트워크 모듈을 페어링하고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, 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양쪽 모듈에 각각 적외선과 스피커를 붙여 보세요</a:t>
            </a: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!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FEB237-69B7-45A9-9425-9396993ACBC4}"/>
              </a:ext>
            </a:extLst>
          </p:cNvPr>
          <p:cNvSpPr/>
          <p:nvPr/>
        </p:nvSpPr>
        <p:spPr>
          <a:xfrm>
            <a:off x="810224" y="2023936"/>
            <a:ext cx="10753288" cy="628011"/>
          </a:xfrm>
          <a:prstGeom prst="rect">
            <a:avLst/>
          </a:prstGeom>
          <a:solidFill>
            <a:srgbClr val="46D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400" b="1" dirty="0"/>
              <a:t>Hint!</a:t>
            </a:r>
            <a:endParaRPr lang="ko-KR" altLang="en-US" sz="2400" b="1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F8F9287-1E30-4609-B336-418621164FB6}"/>
              </a:ext>
            </a:extLst>
          </p:cNvPr>
          <p:cNvGrpSpPr/>
          <p:nvPr/>
        </p:nvGrpSpPr>
        <p:grpSpPr>
          <a:xfrm>
            <a:off x="3279755" y="2881787"/>
            <a:ext cx="5745319" cy="3499161"/>
            <a:chOff x="3043876" y="2145713"/>
            <a:chExt cx="5745319" cy="3499161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5999C374-2FDD-45B8-99F4-94A3E3CCCB8D}"/>
                </a:ext>
              </a:extLst>
            </p:cNvPr>
            <p:cNvGrpSpPr/>
            <p:nvPr/>
          </p:nvGrpSpPr>
          <p:grpSpPr>
            <a:xfrm>
              <a:off x="3043876" y="2145713"/>
              <a:ext cx="5745319" cy="3499161"/>
              <a:chOff x="3488838" y="2915905"/>
              <a:chExt cx="4501909" cy="2741868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42297453-5E1C-4BA7-8A7F-5354829A5B18}"/>
                  </a:ext>
                </a:extLst>
              </p:cNvPr>
              <p:cNvGrpSpPr/>
              <p:nvPr/>
            </p:nvGrpSpPr>
            <p:grpSpPr>
              <a:xfrm>
                <a:off x="6154757" y="2915905"/>
                <a:ext cx="1835990" cy="1826933"/>
                <a:chOff x="4171018" y="1732889"/>
                <a:chExt cx="1835990" cy="1826933"/>
              </a:xfrm>
            </p:grpSpPr>
            <p:pic>
              <p:nvPicPr>
                <p:cNvPr id="38" name="그림 37">
                  <a:extLst>
                    <a:ext uri="{FF2B5EF4-FFF2-40B4-BE49-F238E27FC236}">
                      <a16:creationId xmlns:a16="http://schemas.microsoft.com/office/drawing/2014/main" id="{BB5DBBEB-ADD5-4BDA-9AE2-B93A30AF37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079544" y="1732889"/>
                  <a:ext cx="927464" cy="1810181"/>
                </a:xfrm>
                <a:prstGeom prst="rect">
                  <a:avLst/>
                </a:prstGeom>
              </p:spPr>
            </p:pic>
            <p:pic>
              <p:nvPicPr>
                <p:cNvPr id="39" name="그림 38">
                  <a:extLst>
                    <a:ext uri="{FF2B5EF4-FFF2-40B4-BE49-F238E27FC236}">
                      <a16:creationId xmlns:a16="http://schemas.microsoft.com/office/drawing/2014/main" id="{EB82CB32-D330-4CC2-BDF4-E65E330617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4177012" y="2654732"/>
                  <a:ext cx="899096" cy="911084"/>
                </a:xfrm>
                <a:prstGeom prst="rect">
                  <a:avLst/>
                </a:prstGeom>
              </p:spPr>
            </p:pic>
          </p:grp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B9338938-D081-4738-A6D9-64060CAB5A6B}"/>
                  </a:ext>
                </a:extLst>
              </p:cNvPr>
              <p:cNvGrpSpPr/>
              <p:nvPr/>
            </p:nvGrpSpPr>
            <p:grpSpPr>
              <a:xfrm rot="10800000">
                <a:off x="3488838" y="3842213"/>
                <a:ext cx="1835990" cy="1815560"/>
                <a:chOff x="1421748" y="1699789"/>
                <a:chExt cx="1835990" cy="1815560"/>
              </a:xfrm>
            </p:grpSpPr>
            <p:pic>
              <p:nvPicPr>
                <p:cNvPr id="35" name="그림 34">
                  <a:extLst>
                    <a:ext uri="{FF2B5EF4-FFF2-40B4-BE49-F238E27FC236}">
                      <a16:creationId xmlns:a16="http://schemas.microsoft.com/office/drawing/2014/main" id="{07567D26-70D2-48DD-93E7-920B58255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330274" y="1699789"/>
                  <a:ext cx="927464" cy="1810181"/>
                </a:xfrm>
                <a:prstGeom prst="rect">
                  <a:avLst/>
                </a:prstGeom>
              </p:spPr>
            </p:pic>
            <p:pic>
              <p:nvPicPr>
                <p:cNvPr id="36" name="그림 35">
                  <a:extLst>
                    <a:ext uri="{FF2B5EF4-FFF2-40B4-BE49-F238E27FC236}">
                      <a16:creationId xmlns:a16="http://schemas.microsoft.com/office/drawing/2014/main" id="{4F4C29EC-DFE9-43FA-A0CA-05AAB1EE3B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1427742" y="2610259"/>
                  <a:ext cx="899096" cy="911084"/>
                </a:xfrm>
                <a:prstGeom prst="rect">
                  <a:avLst/>
                </a:prstGeom>
              </p:spPr>
            </p:pic>
          </p:grpSp>
          <p:sp>
            <p:nvSpPr>
              <p:cNvPr id="31" name="화살표: 오른쪽 30">
                <a:extLst>
                  <a:ext uri="{FF2B5EF4-FFF2-40B4-BE49-F238E27FC236}">
                    <a16:creationId xmlns:a16="http://schemas.microsoft.com/office/drawing/2014/main" id="{0DCC422F-DAF7-4904-9914-EBFE9284DB14}"/>
                  </a:ext>
                </a:extLst>
              </p:cNvPr>
              <p:cNvSpPr/>
              <p:nvPr/>
            </p:nvSpPr>
            <p:spPr>
              <a:xfrm>
                <a:off x="5410011" y="4153118"/>
                <a:ext cx="208571" cy="242888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EAD86AB6-EBB4-4F67-9DED-DAEE1A6E9DC5}"/>
                  </a:ext>
                </a:extLst>
              </p:cNvPr>
              <p:cNvSpPr/>
              <p:nvPr/>
            </p:nvSpPr>
            <p:spPr>
              <a:xfrm rot="10800000">
                <a:off x="5347643" y="4147863"/>
                <a:ext cx="208571" cy="242888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화살표: 오른쪽 32">
                <a:extLst>
                  <a:ext uri="{FF2B5EF4-FFF2-40B4-BE49-F238E27FC236}">
                    <a16:creationId xmlns:a16="http://schemas.microsoft.com/office/drawing/2014/main" id="{F59F58E4-4ACD-4DA5-8BF7-25D6C5C9398A}"/>
                  </a:ext>
                </a:extLst>
              </p:cNvPr>
              <p:cNvSpPr/>
              <p:nvPr/>
            </p:nvSpPr>
            <p:spPr>
              <a:xfrm>
                <a:off x="5915350" y="4164253"/>
                <a:ext cx="208571" cy="242888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화살표: 오른쪽 33">
                <a:extLst>
                  <a:ext uri="{FF2B5EF4-FFF2-40B4-BE49-F238E27FC236}">
                    <a16:creationId xmlns:a16="http://schemas.microsoft.com/office/drawing/2014/main" id="{EE77EA66-15A2-4123-BDFC-1071F51183E2}"/>
                  </a:ext>
                </a:extLst>
              </p:cNvPr>
              <p:cNvSpPr/>
              <p:nvPr/>
            </p:nvSpPr>
            <p:spPr>
              <a:xfrm rot="10800000">
                <a:off x="5852982" y="4158998"/>
                <a:ext cx="208571" cy="242888"/>
              </a:xfrm>
              <a:prstGeom prst="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1B2C5C8B-FEF1-42B2-9793-DFDA7BF76C4A}"/>
                </a:ext>
              </a:extLst>
            </p:cNvPr>
            <p:cNvSpPr/>
            <p:nvPr/>
          </p:nvSpPr>
          <p:spPr>
            <a:xfrm>
              <a:off x="4400737" y="4246702"/>
              <a:ext cx="65720" cy="63633"/>
            </a:xfrm>
            <a:prstGeom prst="ellipse">
              <a:avLst/>
            </a:prstGeom>
            <a:solidFill>
              <a:srgbClr val="97B7F3"/>
            </a:solidFill>
            <a:ln>
              <a:noFill/>
            </a:ln>
            <a:effectLst>
              <a:glow rad="228600">
                <a:srgbClr val="94B8FA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BAD11849-6BA4-46AC-8001-0330A70AEB35}"/>
                </a:ext>
              </a:extLst>
            </p:cNvPr>
            <p:cNvSpPr/>
            <p:nvPr/>
          </p:nvSpPr>
          <p:spPr>
            <a:xfrm>
              <a:off x="7367141" y="3498133"/>
              <a:ext cx="65720" cy="63633"/>
            </a:xfrm>
            <a:prstGeom prst="ellipse">
              <a:avLst/>
            </a:prstGeom>
            <a:solidFill>
              <a:srgbClr val="97B7F3"/>
            </a:solidFill>
            <a:ln>
              <a:noFill/>
            </a:ln>
            <a:effectLst>
              <a:glow rad="228600">
                <a:srgbClr val="94B8FA">
                  <a:alpha val="40000"/>
                </a:srgb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317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A1334225-8906-4744-A4A5-76B07EF5D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34" y="1242052"/>
            <a:ext cx="1902335" cy="558432"/>
          </a:xfrm>
          <a:prstGeom prst="rect">
            <a:avLst/>
          </a:prstGeom>
        </p:spPr>
      </p:pic>
      <p:sp>
        <p:nvSpPr>
          <p:cNvPr id="3" name="제목 3">
            <a:extLst>
              <a:ext uri="{FF2B5EF4-FFF2-40B4-BE49-F238E27FC236}">
                <a16:creationId xmlns:a16="http://schemas.microsoft.com/office/drawing/2014/main" id="{E0D830B1-09DA-4F36-9A31-8FD7D2AEC5BF}"/>
              </a:ext>
            </a:extLst>
          </p:cNvPr>
          <p:cNvSpPr txBox="1">
            <a:spLocks/>
          </p:cNvSpPr>
          <p:nvPr/>
        </p:nvSpPr>
        <p:spPr>
          <a:xfrm>
            <a:off x="678234" y="447583"/>
            <a:ext cx="10850826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2800" dirty="0">
                <a:solidFill>
                  <a:prstClr val="black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정리하기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5D8A98-622F-4B7D-8B34-B66934DF320B}"/>
              </a:ext>
            </a:extLst>
          </p:cNvPr>
          <p:cNvSpPr txBox="1"/>
          <p:nvPr/>
        </p:nvSpPr>
        <p:spPr>
          <a:xfrm>
            <a:off x="761947" y="2229878"/>
            <a:ext cx="10045753" cy="2548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입력 모듈과 출력 모듈을 여러 개 연결하면</a:t>
            </a:r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인접한 모든 모듈에 영향을 미칩니다</a:t>
            </a:r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342900" indent="-342900">
              <a:lnSpc>
                <a:spcPct val="200000"/>
              </a:lnSpc>
              <a:buFontTx/>
              <a:buAutoNum type="arabicPeriod"/>
            </a:pPr>
            <a:r>
              <a:rPr lang="ko-KR" altLang="en-US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네트워크 모듈로 원격 통신을 할 수 있습니다</a:t>
            </a:r>
            <a:r>
              <a:rPr lang="en-US" altLang="ko-KR" sz="2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EE37565-D7B3-4580-93C7-9F453B121729}"/>
              </a:ext>
            </a:extLst>
          </p:cNvPr>
          <p:cNvSpPr/>
          <p:nvPr/>
        </p:nvSpPr>
        <p:spPr>
          <a:xfrm>
            <a:off x="1343355" y="1364814"/>
            <a:ext cx="975360" cy="288383"/>
          </a:xfrm>
          <a:prstGeom prst="rect">
            <a:avLst/>
          </a:prstGeom>
          <a:solidFill>
            <a:srgbClr val="25CA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정리하기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CD921C-CED1-416A-AAEA-33D71CE478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380" y="2986439"/>
            <a:ext cx="1182123" cy="13502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1D54229-E4CB-4A59-8BBA-D7DA3335D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006" y="4710758"/>
            <a:ext cx="1469232" cy="135020"/>
          </a:xfrm>
          <a:prstGeom prst="rect">
            <a:avLst/>
          </a:prstGeom>
        </p:spPr>
      </p:pic>
      <p:sp>
        <p:nvSpPr>
          <p:cNvPr id="16" name="부제목 2"/>
          <p:cNvSpPr txBox="1">
            <a:spLocks/>
          </p:cNvSpPr>
          <p:nvPr/>
        </p:nvSpPr>
        <p:spPr>
          <a:xfrm>
            <a:off x="9234157" y="25708"/>
            <a:ext cx="2469820" cy="322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MODI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Roboto" panose="02000000000000000000" pitchFamily="2" charset="0"/>
              </a:rPr>
              <a:t>만나기</a:t>
            </a:r>
          </a:p>
        </p:txBody>
      </p:sp>
    </p:spTree>
    <p:extLst>
      <p:ext uri="{BB962C8B-B14F-4D97-AF65-F5344CB8AC3E}">
        <p14:creationId xmlns:p14="http://schemas.microsoft.com/office/powerpoint/2010/main" val="1204950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161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Control xmlns="http://schemas.microsoft.com/VisualStudio/2011/storyboarding/control">
  <Id Name="dd2b0f88-753c-4bf5-8acb-e464ef47dce3" Revision="1" Stencil="System.MyShapes" StencilVersion="1.0"/>
</Control>
</file>

<file path=customXml/itemProps1.xml><?xml version="1.0" encoding="utf-8"?>
<ds:datastoreItem xmlns:ds="http://schemas.openxmlformats.org/officeDocument/2006/customXml" ds:itemID="{B5DE8977-C1C7-4F3A-970D-118F396C8145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608</Words>
  <Application>Microsoft Office PowerPoint</Application>
  <PresentationFormat>와이드스크린</PresentationFormat>
  <Paragraphs>151</Paragraphs>
  <Slides>21</Slides>
  <Notes>16</Notes>
  <HiddenSlides>0</HiddenSlides>
  <MMClips>1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굴림</vt:lpstr>
      <vt:lpstr>나눔고딕</vt:lpstr>
      <vt:lpstr>나눔고딕 ExtraBold</vt:lpstr>
      <vt:lpstr>나눔스퀘어 ExtraBold</vt:lpstr>
      <vt:lpstr>맑은 고딕</vt:lpstr>
      <vt:lpstr>Arial</vt:lpstr>
      <vt:lpstr>Calibri</vt:lpstr>
      <vt:lpstr>Roboto</vt:lpstr>
      <vt:lpstr>Wingdings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hee yeon</dc:creator>
  <cp:lastModifiedBy>MoonHeyJin</cp:lastModifiedBy>
  <cp:revision>105</cp:revision>
  <dcterms:created xsi:type="dcterms:W3CDTF">2018-07-05T09:07:28Z</dcterms:created>
  <dcterms:modified xsi:type="dcterms:W3CDTF">2025-08-17T09:59:28Z</dcterms:modified>
</cp:coreProperties>
</file>